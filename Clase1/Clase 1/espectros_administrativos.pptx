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5276">
              <a:alpha val="70000"/>
            </a:srgbClr>
          </a:solidFill>
          <a:ln w="12700">
            <a:solidFill>
              <a:srgbClr val="1A5276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A5276">
              <a:alpha val="45000"/>
            </a:srgbClr>
          </a:solidFill>
          <a:ln w="12700">
            <a:solidFill>
              <a:srgbClr val="1A5276">
                <a:alpha val="4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7315200" y="457200"/>
            <a:ext cx="1371600" cy="1371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822960"/>
            <a:ext cx="2926080" cy="3474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8229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DUODÉCIMO AÑO · GESTIÓN DE SOFTWARE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47472" y="137160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Espectros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Administrativos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347472" y="306324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Gestión de Proyectos de Software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A5276">
              <a:alpha val="80000"/>
            </a:srgbClr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7472" y="4480560"/>
            <a:ext cx="868680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BF5FB"/>
                </a:solidFill>
              </a:rPr>
              <a:t>Docente: Jefernee Ruiz   |   Unidad 1: Identificar la importancia del uso de los espectros administrativos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ESPECTRO ADMINISTRATIVO?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" cy="41376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88720"/>
            <a:ext cx="8503920" cy="1234440"/>
          </a:xfrm>
          <a:prstGeom prst="rect">
            <a:avLst/>
          </a:prstGeom>
          <a:solidFill>
            <a:srgbClr val="EBF5FB"/>
          </a:solidFill>
          <a:ln w="25400">
            <a:solidFill>
              <a:srgbClr val="1ABC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Definición: </a:t>
            </a:r>
            <a:pPr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espectro administrativo es cada una de las áreas de conocimiento que deben gestionarse en un proyecto de software para garantizar su éxito. Estas áreas abarcan desde el tiempo y los costos hasta la calidad, los riesgos y las comunicaciones.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2606040"/>
            <a:ext cx="4114800" cy="914400"/>
          </a:xfrm>
          <a:prstGeom prst="rect">
            <a:avLst/>
          </a:prstGeom>
          <a:solidFill>
            <a:srgbClr val="F8F9F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9768" y="2770632"/>
            <a:ext cx="566928" cy="566928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2852928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24712" y="26791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marcos de referencia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24712" y="299008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Guían al equipo en cómo actuar ante cada dimensión del proyecto.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2606040"/>
            <a:ext cx="4114800" cy="9144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73168" y="2770632"/>
            <a:ext cx="566928" cy="566928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4" y="2852928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68112" y="26791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interdependientes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468112" y="299008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decisión en un área afecta directamente a las demás.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20040" y="3703320"/>
            <a:ext cx="4114800" cy="914400"/>
          </a:xfrm>
          <a:prstGeom prst="rect">
            <a:avLst/>
          </a:prstGeom>
          <a:solidFill>
            <a:srgbClr val="F8F9FA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29768" y="3867912"/>
            <a:ext cx="566928" cy="566928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3950208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24712" y="37764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universales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124712" y="408736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aplican en proyectos pequeños, medianos y grandes a nivel mundial.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663440" y="3703320"/>
            <a:ext cx="4114800" cy="9144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73168" y="3867912"/>
            <a:ext cx="566928" cy="566928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64" y="3950208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68112" y="37764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medibles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468112" y="408736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Permiten usar métricas para evaluar el estado del proyecto.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10 ESPECTROS ADMINISTRATIVOS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74320" y="7315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Basados en el estándar PMBOK del PMI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28600" y="1188720"/>
            <a:ext cx="1600200" cy="1463040"/>
          </a:xfrm>
          <a:prstGeom prst="rect">
            <a:avLst/>
          </a:prstGeom>
          <a:solidFill>
            <a:srgbClr val="1A5276"/>
          </a:solidFill>
          <a:ln w="19050">
            <a:solidFill>
              <a:srgbClr val="1ABC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29844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01752" y="17830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965960" y="1188720"/>
            <a:ext cx="1600200" cy="1463040"/>
          </a:xfrm>
          <a:prstGeom prst="rect">
            <a:avLst/>
          </a:prstGeom>
          <a:solidFill>
            <a:srgbClr val="117A65"/>
          </a:solidFill>
          <a:ln w="19050">
            <a:solidFill>
              <a:srgbClr val="1ABC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65960" y="129844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039112" y="17830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703320" y="1188720"/>
            <a:ext cx="1600200" cy="1463040"/>
          </a:xfrm>
          <a:prstGeom prst="rect">
            <a:avLst/>
          </a:prstGeom>
          <a:solidFill>
            <a:srgbClr val="1E8449"/>
          </a:solidFill>
          <a:ln w="19050">
            <a:solidFill>
              <a:srgbClr val="1ABC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03320" y="129844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776472" y="17830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40680" y="1188720"/>
            <a:ext cx="1600200" cy="1463040"/>
          </a:xfrm>
          <a:prstGeom prst="rect">
            <a:avLst/>
          </a:prstGeom>
          <a:solidFill>
            <a:srgbClr val="B7950B"/>
          </a:solidFill>
          <a:ln w="19050">
            <a:solidFill>
              <a:srgbClr val="1ABC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40680" y="129844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513832" y="17830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178040" y="1188720"/>
            <a:ext cx="1600200" cy="1463040"/>
          </a:xfrm>
          <a:prstGeom prst="rect">
            <a:avLst/>
          </a:prstGeom>
          <a:solidFill>
            <a:srgbClr val="784212"/>
          </a:solidFill>
          <a:ln w="19050">
            <a:solidFill>
              <a:srgbClr val="1ABC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78040" y="129844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251192" y="17830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28600" y="2880360"/>
            <a:ext cx="1600200" cy="1463040"/>
          </a:xfrm>
          <a:prstGeom prst="rect">
            <a:avLst/>
          </a:prstGeom>
          <a:solidFill>
            <a:srgbClr val="76448A"/>
          </a:solidFill>
          <a:ln w="19050">
            <a:solidFill>
              <a:srgbClr val="1ABC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28600" y="299008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01752" y="34747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965960" y="2880360"/>
            <a:ext cx="1600200" cy="1463040"/>
          </a:xfrm>
          <a:prstGeom prst="rect">
            <a:avLst/>
          </a:prstGeom>
          <a:solidFill>
            <a:srgbClr val="1A5276"/>
          </a:solidFill>
          <a:ln w="19050">
            <a:solidFill>
              <a:srgbClr val="1ABC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965960" y="299008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2039112" y="34747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Comunicaciones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703320" y="2880360"/>
            <a:ext cx="1600200" cy="1463040"/>
          </a:xfrm>
          <a:prstGeom prst="rect">
            <a:avLst/>
          </a:prstGeom>
          <a:solidFill>
            <a:srgbClr val="922B21"/>
          </a:solidFill>
          <a:ln w="19050">
            <a:solidFill>
              <a:srgbClr val="1ABC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703320" y="299008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776472" y="34747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40680" y="2880360"/>
            <a:ext cx="1600200" cy="1463040"/>
          </a:xfrm>
          <a:prstGeom prst="rect">
            <a:avLst/>
          </a:prstGeom>
          <a:solidFill>
            <a:srgbClr val="0E6655"/>
          </a:solidFill>
          <a:ln w="19050">
            <a:solidFill>
              <a:srgbClr val="1ABC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40680" y="299008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513832" y="34747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Adquisiciones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178040" y="2880360"/>
            <a:ext cx="1600200" cy="1463040"/>
          </a:xfrm>
          <a:prstGeom prst="rect">
            <a:avLst/>
          </a:prstGeom>
          <a:solidFill>
            <a:srgbClr val="154360"/>
          </a:solidFill>
          <a:ln w="19050">
            <a:solidFill>
              <a:srgbClr val="1ABC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178040" y="299008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251192" y="34747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Interesados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SON IMPORTANTES?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1430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Evitan que los proyectos fallen por falta de organización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83664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" y="1837944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Permiten equilibrar tiempo, costo y calidad simultáneamente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78608"/>
            <a:ext cx="384048" cy="3840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2960" y="253288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Facilitan la comunicación entre el equipo y los clientes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273552"/>
            <a:ext cx="384048" cy="38404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2960" y="322783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Reducen los riesgos mediante una gestión planificada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968496"/>
            <a:ext cx="384048" cy="38404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22960" y="3922776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Aseguran que el producto final cumpla los requisitos acordados</a:t>
            </a:r>
            <a:endParaRPr lang="en-US" sz="1300" dirty="0"/>
          </a:p>
        </p:txBody>
      </p:sp>
      <p:sp>
        <p:nvSpPr>
          <p:cNvPr id="14" name="Shape 7"/>
          <p:cNvSpPr/>
          <p:nvPr/>
        </p:nvSpPr>
        <p:spPr>
          <a:xfrm>
            <a:off x="5669280" y="914400"/>
            <a:ext cx="3200400" cy="393192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5669280" y="960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Triángulo de Hierro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6446520" y="1417320"/>
            <a:ext cx="1371600" cy="100584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6446520" y="1463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6446520" y="1920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5715000" y="3200400"/>
            <a:ext cx="1371600" cy="1005840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5715000" y="32461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5715000" y="3703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7223760" y="3200400"/>
            <a:ext cx="1371600" cy="1005840"/>
          </a:xfrm>
          <a:prstGeom prst="ellipse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7223760" y="32461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7223760" y="3703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510528" y="2514600"/>
            <a:ext cx="1243584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6510528" y="2514600"/>
            <a:ext cx="12435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6903720" y="2377440"/>
            <a:ext cx="0" cy="182880"/>
          </a:xfrm>
          <a:prstGeom prst="line">
            <a:avLst/>
          </a:prstGeom>
          <a:noFill/>
          <a:ln w="12700">
            <a:solidFill>
              <a:srgbClr val="7F8C8D"/>
            </a:solidFill>
            <a:prstDash val="dash"/>
          </a:ln>
        </p:spPr>
      </p:sp>
      <p:sp>
        <p:nvSpPr>
          <p:cNvPr id="28" name="Text 21"/>
          <p:cNvSpPr/>
          <p:nvPr/>
        </p:nvSpPr>
        <p:spPr>
          <a:xfrm>
            <a:off x="5715000" y="42519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uno cambia,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demás 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 afectados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ESPECTROS EN ACCIÓN: Ejemplo Real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5029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Escenario: Desarrollar una app de gestión escolar para el colegio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783080"/>
            <a:ext cx="8595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783080"/>
            <a:ext cx="2011680" cy="47548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78308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1783080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si la app incluye notas, asistencia y mensajería — o solo notas.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295144"/>
            <a:ext cx="8595360" cy="475488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95144"/>
            <a:ext cx="2011680" cy="47548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29514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77440" y="2295144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Planificar que el prototipo esté listo en 4 semanas.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807208"/>
            <a:ext cx="8595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807208"/>
            <a:ext cx="2011680" cy="47548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80720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77440" y="2807208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cuánto cuesta el servidor, las licencias y el equipo.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3319272"/>
            <a:ext cx="8595360" cy="475488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319272"/>
            <a:ext cx="2011680" cy="47548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31927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377440" y="3319272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Establecer que la app no puede tener errores críticos al momento de entrega.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3831336"/>
            <a:ext cx="8595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831336"/>
            <a:ext cx="2011680" cy="47548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83133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377440" y="3831336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que si un desarrollador se enferma, el cronograma puede retrasarse.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74320" y="4343400"/>
            <a:ext cx="8595360" cy="475488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4343400"/>
            <a:ext cx="2011680" cy="47548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34340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Comunicaciones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377440" y="4343400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avances al director del colegio cada viernes.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 SI SE IGNORAN?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1143000"/>
            <a:ext cx="278892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143000"/>
            <a:ext cx="2788920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Proyectos incompletos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" y="164592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software se entrega sin todas las funciones prometidas al cliente.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72968" y="1143000"/>
            <a:ext cx="278892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D354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72968" y="1143000"/>
            <a:ext cx="2788920" cy="43891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64408" y="114300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Sobrecosto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82696" y="164592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gasta más dinero del presupuestado, causando pérdidas.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63056" y="1143000"/>
            <a:ext cx="278892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B795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63056" y="1143000"/>
            <a:ext cx="2788920" cy="438912"/>
          </a:xfrm>
          <a:prstGeom prst="rect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54496" y="114300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Retrasos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72784" y="164592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fechas de entrega se incumplen, afectando la confianza del cliente.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82880" y="3017520"/>
            <a:ext cx="278892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1E844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2880" y="3017520"/>
            <a:ext cx="2788920" cy="43891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01752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Baja calidad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" y="352044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software tiene errores, falla frecuentemente o es difícil de usar.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172968" y="3017520"/>
            <a:ext cx="278892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72968" y="3017520"/>
            <a:ext cx="2788920" cy="43891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64408" y="301752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Conflictos en el equipo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82696" y="352044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comunicación clara, los desarrolladores trabajan en direcciones opuestas.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63056" y="3017520"/>
            <a:ext cx="278892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7644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63056" y="3017520"/>
            <a:ext cx="2788920" cy="438912"/>
          </a:xfrm>
          <a:prstGeom prst="rect">
            <a:avLst/>
          </a:prstGeom>
          <a:solidFill>
            <a:srgbClr val="76448A"/>
          </a:solidFill>
          <a:ln w="12700">
            <a:solidFill>
              <a:srgbClr val="7644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54496" y="301752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Fracaso total del proyecto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72784" y="352044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casos extremos, el proyecto se cancela sin producir ningún resultado útil.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PARA GESTIONAR LOS ESPECTROS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0" y="749808"/>
            <a:ext cx="274320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005840"/>
            <a:ext cx="2743200" cy="16002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BC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17043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 / Jira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65760" y="18288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tareas y cronograma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0" y="1005840"/>
            <a:ext cx="2743200" cy="1600200"/>
          </a:xfrm>
          <a:prstGeom prst="rect">
            <a:avLst/>
          </a:prstGeom>
          <a:solidFill>
            <a:srgbClr val="117A65"/>
          </a:solidFill>
          <a:ln w="12700">
            <a:solidFill>
              <a:srgbClr val="1ABC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18872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77640" y="117043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Projects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337560" y="18288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 avance del código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72200" y="1005840"/>
            <a:ext cx="2743200" cy="1600200"/>
          </a:xfrm>
          <a:prstGeom prst="rect">
            <a:avLst/>
          </a:prstGeom>
          <a:solidFill>
            <a:srgbClr val="784212"/>
          </a:solidFill>
          <a:ln w="12700">
            <a:solidFill>
              <a:srgbClr val="1ABC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8872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49440" y="117043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Project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309360" y="18288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y control de tiempos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28600" y="2788920"/>
            <a:ext cx="2743200" cy="1600200"/>
          </a:xfrm>
          <a:prstGeom prst="rect">
            <a:avLst/>
          </a:prstGeom>
          <a:solidFill>
            <a:srgbClr val="76448A"/>
          </a:solidFill>
          <a:ln w="12700">
            <a:solidFill>
              <a:srgbClr val="1ABC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97180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05840" y="295351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/ Teams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365760" y="36118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comunicaciones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200400" y="2788920"/>
            <a:ext cx="2743200" cy="1600200"/>
          </a:xfrm>
          <a:prstGeom prst="rect">
            <a:avLst/>
          </a:prstGeom>
          <a:solidFill>
            <a:srgbClr val="B7950B"/>
          </a:solidFill>
          <a:ln w="12700">
            <a:solidFill>
              <a:srgbClr val="1ABC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2971800"/>
            <a:ext cx="548640" cy="5486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977640" y="295351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/ Excel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3337560" y="36118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costos y presupuesto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172200" y="2788920"/>
            <a:ext cx="2743200" cy="1600200"/>
          </a:xfrm>
          <a:prstGeom prst="rect">
            <a:avLst/>
          </a:prstGeom>
          <a:solidFill>
            <a:srgbClr val="922B21"/>
          </a:solidFill>
          <a:ln w="12700">
            <a:solidFill>
              <a:srgbClr val="1ABC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2971800"/>
            <a:ext cx="548640" cy="5486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49440" y="295351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Risk Module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6309360" y="36118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y control de riesgos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CLAVE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4160520" y="749808"/>
            <a:ext cx="822960" cy="822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1755648"/>
            <a:ext cx="502920" cy="50292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755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60120" y="1691640"/>
            <a:ext cx="7909560" cy="658368"/>
          </a:xfrm>
          <a:prstGeom prst="rect">
            <a:avLst/>
          </a:prstGeom>
          <a:solidFill>
            <a:srgbClr val="1A5276">
              <a:alpha val="60000"/>
            </a:srgbClr>
          </a:solidFill>
          <a:ln w="12700">
            <a:solidFill>
              <a:srgbClr val="1A5276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1691640"/>
            <a:ext cx="7726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espectros administrativos son las áreas de conocimiento esenciales para gestionar cualquier proyecto de software con éxito.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74320" y="2560320"/>
            <a:ext cx="502920" cy="50292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60120" y="2496312"/>
            <a:ext cx="7909560" cy="658368"/>
          </a:xfrm>
          <a:prstGeom prst="rect">
            <a:avLst/>
          </a:prstGeom>
          <a:solidFill>
            <a:srgbClr val="1A5276">
              <a:alpha val="60000"/>
            </a:srgbClr>
          </a:solidFill>
          <a:ln w="12700">
            <a:solidFill>
              <a:srgbClr val="1A5276">
                <a:alpha val="8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1560" y="2496312"/>
            <a:ext cx="7726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Ignorar un solo espectro puede desencadenar problemas graves en los demás (tiempo, costo, calidad).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74320" y="3364992"/>
            <a:ext cx="502920" cy="50292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3364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60120" y="3300984"/>
            <a:ext cx="7909560" cy="658368"/>
          </a:xfrm>
          <a:prstGeom prst="rect">
            <a:avLst/>
          </a:prstGeom>
          <a:solidFill>
            <a:srgbClr val="1A5276">
              <a:alpha val="60000"/>
            </a:srgbClr>
          </a:solidFill>
          <a:ln w="12700">
            <a:solidFill>
              <a:srgbClr val="1A5276">
                <a:alpha val="8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51560" y="3300984"/>
            <a:ext cx="7726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estándar PMBOK define 10 espectros que sirven como guía universal para equipos de desarrollo.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274320" y="4169664"/>
            <a:ext cx="502920" cy="50292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41696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960120" y="4105656"/>
            <a:ext cx="7909560" cy="658368"/>
          </a:xfrm>
          <a:prstGeom prst="rect">
            <a:avLst/>
          </a:prstGeom>
          <a:solidFill>
            <a:srgbClr val="1A5276">
              <a:alpha val="60000"/>
            </a:srgbClr>
          </a:solidFill>
          <a:ln w="12700">
            <a:solidFill>
              <a:srgbClr val="1A5276">
                <a:alpha val="8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51560" y="4105656"/>
            <a:ext cx="7726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como Trello, Jira y MS Project ayudan a operacionalizar cada espectro en proyectos reales.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Jefernee Ruiz  ·  Gestión de Proyectos de Software  ·  Duodécimo Año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Espectros Administrativos en la Gestión de Proyectos de Software</dc:title>
  <dc:subject>PptxGenJS Presentation</dc:subject>
  <dc:creator>PptxGenJS</dc:creator>
  <cp:lastModifiedBy>PptxGenJS</cp:lastModifiedBy>
  <cp:revision>1</cp:revision>
  <dcterms:created xsi:type="dcterms:W3CDTF">2026-03-06T17:43:54Z</dcterms:created>
  <dcterms:modified xsi:type="dcterms:W3CDTF">2026-03-06T17:43:54Z</dcterms:modified>
</cp:coreProperties>
</file>