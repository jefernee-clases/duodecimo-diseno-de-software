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 Medium"/>
      <p:regular r:id="rId17"/>
    </p:embeddedFont>
    <p:embeddedFont>
      <p:font typeface="Alexandria Medium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slideLayout" Target="../slideLayouts/slideLayout3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10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643307"/>
            <a:ext cx="1869758" cy="373142"/>
          </a:xfrm>
          <a:prstGeom prst="roundRect">
            <a:avLst>
              <a:gd name="adj" fmla="val 63828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702838"/>
            <a:ext cx="163163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 DE SOFTWARE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09574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Administración de Proyectos de Software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463355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Guía integral sobre gestión, planificación, estimación y control de proyectos de desarrollo de software. Desde los fundamentos administrativos hasta las herramientas y métricas que garantizan el éxito de cada entrega.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49593"/>
            <a:ext cx="744343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Los Pilares de la Gestión de Proyectos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99686"/>
            <a:ext cx="13042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 proyecto de software se sustenta en áreas de conocimiento interrelacionadas. Dominar cada una es clave para entregar productos de calidad dentro de los plazos y presupuestos establecidos.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1899761"/>
            <a:ext cx="4262914" cy="1945838"/>
          </a:xfrm>
          <a:prstGeom prst="roundRect">
            <a:avLst>
              <a:gd name="adj" fmla="val 12240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66092"/>
            <a:ext cx="476250" cy="4762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089" y="2197060"/>
            <a:ext cx="214313" cy="214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66926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Alcance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60120" y="2993469"/>
            <a:ext cx="39302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qué se incluye y qué queda fuera del proyecto. Los cambios en el alcance impactan directamente en tiempo y recursos requeridos.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183624" y="1899761"/>
            <a:ext cx="4263033" cy="1945838"/>
          </a:xfrm>
          <a:prstGeom prst="roundRect">
            <a:avLst>
              <a:gd name="adj" fmla="val 12240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954" y="2066092"/>
            <a:ext cx="476250" cy="47625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0923" y="2197060"/>
            <a:ext cx="214313" cy="2143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49954" y="266926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Tiempo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349954" y="2993469"/>
            <a:ext cx="3930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Planificación y gestión de cronogramas, hitos y plazos realistas para completar cada fase del desarrollo.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9573578" y="1899761"/>
            <a:ext cx="4263033" cy="1945838"/>
          </a:xfrm>
          <a:prstGeom prst="roundRect">
            <a:avLst>
              <a:gd name="adj" fmla="val 12240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9908" y="2066092"/>
            <a:ext cx="476250" cy="47625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70877" y="2197060"/>
            <a:ext cx="214313" cy="21431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739908" y="266926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Costo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9739908" y="2993469"/>
            <a:ext cx="39303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eficiente del presupuesto y recursos financieros para evitar desviaciones que impacten negativamente en el proyecto.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793790" y="3988475"/>
            <a:ext cx="4262914" cy="1373148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930" y="3988475"/>
            <a:ext cx="91440" cy="137314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43940" y="41700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Calidad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1043940" y="4494252"/>
            <a:ext cx="38311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Asegurar que el producto final cumpla estándares mediante pruebas, revisiones de código y aseguramiento de calidad del software.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5183624" y="3988475"/>
            <a:ext cx="4263033" cy="1373148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0764" y="3988475"/>
            <a:ext cx="91440" cy="137314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33774" y="41700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Recursos Humanos</a:t>
            </a:r>
            <a:endParaRPr lang="en-US" sz="1550" dirty="0"/>
          </a:p>
        </p:txBody>
      </p:sp>
      <p:sp>
        <p:nvSpPr>
          <p:cNvPr id="26" name="Text 16"/>
          <p:cNvSpPr/>
          <p:nvPr/>
        </p:nvSpPr>
        <p:spPr>
          <a:xfrm>
            <a:off x="5433774" y="4494252"/>
            <a:ext cx="3831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del equipo: asignación de roles, responsabilidades y un ambiente de trabajo colaborativo y productivo.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9573578" y="3988475"/>
            <a:ext cx="4263033" cy="1373148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 w="22860">
            <a:solidFill>
              <a:srgbClr val="B3D5E4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0718" y="3988475"/>
            <a:ext cx="91440" cy="137314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823728" y="41700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Comunicación</a:t>
            </a:r>
            <a:endParaRPr lang="en-US" sz="1550" dirty="0"/>
          </a:p>
        </p:txBody>
      </p:sp>
      <p:sp>
        <p:nvSpPr>
          <p:cNvPr id="30" name="Text 19"/>
          <p:cNvSpPr/>
          <p:nvPr/>
        </p:nvSpPr>
        <p:spPr>
          <a:xfrm>
            <a:off x="9823728" y="4494252"/>
            <a:ext cx="3831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Mantener informadas a todas las partes interesadas sobre el progreso, problemas y decisiones importantes del proyecto.</a:t>
            </a:r>
            <a:endParaRPr lang="en-US" sz="1250" dirty="0"/>
          </a:p>
        </p:txBody>
      </p:sp>
      <p:sp>
        <p:nvSpPr>
          <p:cNvPr id="31" name="Shape 20"/>
          <p:cNvSpPr/>
          <p:nvPr/>
        </p:nvSpPr>
        <p:spPr>
          <a:xfrm>
            <a:off x="793790" y="5583840"/>
            <a:ext cx="13042821" cy="27384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3790" y="5754053"/>
            <a:ext cx="317540" cy="3175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270040" y="580858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Riesgos</a:t>
            </a:r>
            <a:endParaRPr lang="en-US" sz="1550" dirty="0"/>
          </a:p>
        </p:txBody>
      </p:sp>
      <p:sp>
        <p:nvSpPr>
          <p:cNvPr id="34" name="Text 22"/>
          <p:cNvSpPr/>
          <p:nvPr/>
        </p:nvSpPr>
        <p:spPr>
          <a:xfrm>
            <a:off x="1270040" y="6132790"/>
            <a:ext cx="5965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Identificar, evaluar y mitigar los riesgos potenciales que podrían afectar al proyecto y su éxito.</a:t>
            </a:r>
            <a:endParaRPr lang="en-US" sz="12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94496" y="5754053"/>
            <a:ext cx="317540" cy="31754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870746" y="580858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Adquisiciones</a:t>
            </a:r>
            <a:endParaRPr lang="en-US" sz="1550" dirty="0"/>
          </a:p>
        </p:txBody>
      </p:sp>
      <p:sp>
        <p:nvSpPr>
          <p:cNvPr id="37" name="Text 24"/>
          <p:cNvSpPr/>
          <p:nvPr/>
        </p:nvSpPr>
        <p:spPr>
          <a:xfrm>
            <a:off x="7870746" y="6132790"/>
            <a:ext cx="59658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de contratos y proveedores externos para asegurar entregas oportunas y de calidad.</a:t>
            </a:r>
            <a:endParaRPr lang="en-US" sz="12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3790" y="6843951"/>
            <a:ext cx="317540" cy="31754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1270040" y="689848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Integración</a:t>
            </a:r>
            <a:endParaRPr lang="en-US" sz="1550" dirty="0"/>
          </a:p>
        </p:txBody>
      </p:sp>
      <p:sp>
        <p:nvSpPr>
          <p:cNvPr id="40" name="Text 26"/>
          <p:cNvSpPr/>
          <p:nvPr/>
        </p:nvSpPr>
        <p:spPr>
          <a:xfrm>
            <a:off x="1270040" y="7222688"/>
            <a:ext cx="5965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Coordinar todas las partes del proyecto para que funcionen juntas de manera coherente y eficiente.</a:t>
            </a:r>
            <a:endParaRPr lang="en-US" sz="12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94496" y="6843951"/>
            <a:ext cx="317540" cy="31754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7870746" y="689848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Interesados</a:t>
            </a:r>
            <a:endParaRPr lang="en-US" sz="1550" dirty="0"/>
          </a:p>
        </p:txBody>
      </p:sp>
      <p:sp>
        <p:nvSpPr>
          <p:cNvPr id="43" name="Text 28"/>
          <p:cNvSpPr/>
          <p:nvPr/>
        </p:nvSpPr>
        <p:spPr>
          <a:xfrm>
            <a:off x="7870746" y="7222688"/>
            <a:ext cx="59658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 y gestionar las expectativas de clientes, usuarios finales, patrocinadores y todos los grupos afectados.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2836"/>
            <a:ext cx="73509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613178" y="732234"/>
            <a:ext cx="2125980" cy="300990"/>
          </a:xfrm>
          <a:prstGeom prst="roundRect">
            <a:avLst>
              <a:gd name="adj" fmla="val 67259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714381" y="782836"/>
            <a:ext cx="192357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ESPECTROS ADMINISTRATIVOS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93790" y="1090493"/>
            <a:ext cx="11008400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Espectros Administrativos de Proyectos de Software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93790" y="1832610"/>
            <a:ext cx="1304282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espectros administrativos definen los actores, estructuras y dinámicas humanas que determinan el éxito o fracaso de cualquier proyecto de desarrollo.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43495"/>
            <a:ext cx="2084427" cy="20844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450711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Participantes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3790" y="4856559"/>
            <a:ext cx="4228148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Incluye a clientes, usuarios finales, miembros del equipo y otros interesados. Es vital identificar y gestionar sus expectativas para alinearlas con los objetivos del proyecto.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126" y="2243495"/>
            <a:ext cx="2084427" cy="20844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01126" y="450711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Líderes de Equipo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201126" y="4856559"/>
            <a:ext cx="4228148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Responsables de guiar, motivar y dirigir al equipo. Requieren habilidades de liderazgo sólidas, conocimientos técnicos y experiencia en gestión de proyectos.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463" y="2243495"/>
            <a:ext cx="2084427" cy="20844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8463" y="450711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Equipo de Software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608463" y="4856559"/>
            <a:ext cx="4228148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Profesionales de desarrollo, diseño UX/UI, ingeniería de pruebas y otros roles especializados que trabajan en el ciclo completo del software.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93790" y="6159818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Equipos Ágiles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793790" y="6619399"/>
            <a:ext cx="6988373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un contexto ágil, el equipo se organiza en unidades multifuncionales y autoorganizadas que colaboran estrechamente para entregar incrementos de software de alta calidad de manera iterativa e incremental, siguiendo marcos como 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Scrum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 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Kanban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79819" y="6016466"/>
            <a:ext cx="5885736" cy="1480899"/>
          </a:xfrm>
          <a:prstGeom prst="roundRect">
            <a:avLst>
              <a:gd name="adj" fmla="val 27341"/>
            </a:avLst>
          </a:prstGeom>
          <a:solidFill>
            <a:srgbClr val="AAE4FE"/>
          </a:solidFill>
          <a:ln/>
        </p:spPr>
      </p:sp>
      <p:sp>
        <p:nvSpPr>
          <p:cNvPr id="19" name="Text 14"/>
          <p:cNvSpPr/>
          <p:nvPr/>
        </p:nvSpPr>
        <p:spPr>
          <a:xfrm>
            <a:off x="8248412" y="6159818"/>
            <a:ext cx="317896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⚠️</a:t>
            </a:r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Conflictos de Coordinación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248412" y="6574274"/>
            <a:ext cx="5548551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Pueden surgir por malentendidos, falta de comunicación o discrepancias en la coordinación. Es fundamental abordarlos de manera proactiva para mantener la armonía y el progreso del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98" y="518160"/>
            <a:ext cx="496729" cy="115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3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1257776" y="483870"/>
            <a:ext cx="1226582" cy="183952"/>
          </a:xfrm>
          <a:prstGeom prst="roundRect">
            <a:avLst>
              <a:gd name="adj" fmla="val 74623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326356" y="518160"/>
            <a:ext cx="1089422" cy="115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VISUALES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03898" y="694134"/>
            <a:ext cx="7434977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Utilización de Diagramas en la Gestión de Proyectos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03898" y="1150382"/>
            <a:ext cx="13222605" cy="14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diagramas son herramientas valiosas que ayudan a visualizar y comunicar información de manera clara y concisa, facilitando la planificación, el seguimiento y la toma de decisiones.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3898" y="1434465"/>
            <a:ext cx="1715810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Diagrama de Gantt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3898" y="1714738"/>
            <a:ext cx="6471761" cy="288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Uno de los diagramas más utilizados en la gestión de proyectos. Muestra las tareas en una línea de tiempo, permitiendo visualizar la duración de cada tarea, las dependencias entre ellas y el progreso general del proyecto.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898" y="2077164"/>
            <a:ext cx="4206597" cy="24126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62361" y="1434465"/>
            <a:ext cx="2519720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Diagrama de Flujo de Trabajo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62361" y="1714738"/>
            <a:ext cx="6471761" cy="288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Muestra las diferentes etapas y actividades que componen un proceso de desarrollo. Ayuda a identificar las actividades necesarias y el flujo de trabajo, facilitando la planificación y ejecución.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361" y="2077164"/>
            <a:ext cx="3281601" cy="210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03898" y="4695133"/>
            <a:ext cx="13222605" cy="21908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703898" y="4856917"/>
            <a:ext cx="2444948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Diagrama de Red PERT/CPM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03898" y="5137190"/>
            <a:ext cx="6471761" cy="288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Modela y analiza las dependencias entre tareas del proyecto. Permite identificar la </a:t>
            </a:r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ruta crítica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determinar la duración más corta posible del proyecto.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8" y="5499616"/>
            <a:ext cx="2924056" cy="21753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62361" y="4856917"/>
            <a:ext cx="2275880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Diagrama de Casos de Uso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462361" y="5137190"/>
            <a:ext cx="6471761" cy="288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Representa las interacciones entre un sistema y sus actores (usuarios). Ayuda a identificar requisitos funcionales y comprender cómo se utilizará el software en el mundo real.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361" y="5499616"/>
            <a:ext cx="2502218" cy="16874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447" y="534829"/>
            <a:ext cx="625793" cy="15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412677" y="491966"/>
            <a:ext cx="1412081" cy="243245"/>
          </a:xfrm>
          <a:prstGeom prst="roundRect">
            <a:avLst>
              <a:gd name="adj" fmla="val 70590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498521" y="534829"/>
            <a:ext cx="1240393" cy="15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PRODUCTO Y PROCESO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5447" y="776407"/>
            <a:ext cx="6488787" cy="447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Producto, el Proceso y el Proyecto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5447" y="1378268"/>
            <a:ext cx="13199507" cy="196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planificación eficaz exige comprender tres dimensiones interrelacionadas: qué se construye (producto), cómo se construye (proceso) y bajo qué condiciones (proyecto).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5447" y="1691164"/>
            <a:ext cx="13199507" cy="1436013"/>
          </a:xfrm>
          <a:prstGeom prst="roundRect">
            <a:avLst>
              <a:gd name="adj" fmla="val 14947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067" y="1698784"/>
            <a:ext cx="6592133" cy="1420773"/>
          </a:xfrm>
          <a:prstGeom prst="roundRect">
            <a:avLst>
              <a:gd name="adj" fmla="val 15107"/>
            </a:avLst>
          </a:prstGeom>
          <a:solidFill>
            <a:srgbClr val="E6F7FF"/>
          </a:solidFill>
          <a:ln/>
        </p:spPr>
      </p:sp>
      <p:sp>
        <p:nvSpPr>
          <p:cNvPr id="9" name="Text 7"/>
          <p:cNvSpPr/>
          <p:nvPr/>
        </p:nvSpPr>
        <p:spPr>
          <a:xfrm>
            <a:off x="866061" y="1841778"/>
            <a:ext cx="1788557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Producto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6061" y="2127052"/>
            <a:ext cx="6306145" cy="39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Ámbito del software: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Define claramente qué hará el software y qué no, estableciendo límites y alcances del proyecto.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6061" y="2582704"/>
            <a:ext cx="6306145" cy="39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Descomposición del problema: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Desglosar el problema en componentes más pequeños y manejables que puedan ser comprendidos y resueltos individualmente por el equipo.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698784"/>
            <a:ext cx="6592133" cy="142077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1698784"/>
            <a:ext cx="15240" cy="1420773"/>
          </a:xfrm>
          <a:prstGeom prst="roundRect">
            <a:avLst>
              <a:gd name="adj" fmla="val 1408362"/>
            </a:avLst>
          </a:prstGeom>
          <a:solidFill>
            <a:srgbClr val="B3D5E4"/>
          </a:solidFill>
          <a:ln/>
        </p:spPr>
      </p:sp>
      <p:sp>
        <p:nvSpPr>
          <p:cNvPr id="14" name="Text 12"/>
          <p:cNvSpPr/>
          <p:nvPr/>
        </p:nvSpPr>
        <p:spPr>
          <a:xfrm>
            <a:off x="7458194" y="1841778"/>
            <a:ext cx="1788557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Proceso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58194" y="2127052"/>
            <a:ext cx="6306145" cy="39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Fusión producto-proceso: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Integrar el desarrollo del software con el proceso utilizado para crearlo en un enfoque coherente y sinérgico, adoptando prácticas ágiles.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58194" y="2582704"/>
            <a:ext cx="6306145" cy="39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Descomposición del proceso: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Dividir el proceso en actividades como análisis, diseño, implementación, pruebas y despliegue para facilitar la gestión.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447" y="3314634"/>
            <a:ext cx="13199507" cy="25479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5447" y="3494723"/>
            <a:ext cx="4709636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Proyecto: Principio WHH de Barry Boehm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15447" y="4010382"/>
            <a:ext cx="7102554" cy="39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Principio WHH de Barry Boehm destaca tres ideas fundamentales para la gestión efectiva de proyectos de software: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5447" y="4496991"/>
            <a:ext cx="710255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 (Win-Win):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Aprovechar oportunidades y buscar acuerdos donde todas las partes ganen.</a:t>
            </a:r>
            <a:endParaRPr lang="en-US" sz="11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 (Halt):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Reconocer la necesidad de detener un proyecto si las condiciones lo requieren.</a:t>
            </a:r>
            <a:endParaRPr lang="en-US" sz="11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 (Hazards):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Estar atento a factores ocultos que podrían afectar el éxito del proyecto.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5447" y="5252680"/>
            <a:ext cx="7102554" cy="196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Estos principios ayudan a mejorar las posibilidades de éxito y reducir los riesgos asociados al desarrollo.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12" y="4033599"/>
            <a:ext cx="4598194" cy="3588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598646"/>
            <a:ext cx="6431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502569" y="554474"/>
            <a:ext cx="1708666" cy="252651"/>
          </a:xfrm>
          <a:prstGeom prst="roundRect">
            <a:avLst>
              <a:gd name="adj" fmla="val 69988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590913" y="598646"/>
            <a:ext cx="153197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Y MÉTRICAS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5813" y="850821"/>
            <a:ext cx="9107091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Herramientas de Software y Métricas de Proyecto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85813" y="1475303"/>
            <a:ext cx="1305877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selección adecuada de herramientas y la medición rigurosa del software son factores determinantes para el control efectivo de cualquier proyecto de desarrollo.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813" y="1803678"/>
            <a:ext cx="521732" cy="5217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228" y="1803678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Microsoft Project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44228" y="2099429"/>
            <a:ext cx="250376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Amplia gama de funciones para planificación, programación, asignación de recursos y generación de informes de proyectos.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77" y="1803678"/>
            <a:ext cx="521732" cy="5217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43093" y="1803678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Jira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743093" y="2099429"/>
            <a:ext cx="250376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Ideal para equipos ágiles. Permite planificación de sprints, seguimiento de problemas, gestión de versiones y colaboración en tiempo real.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542" y="1803678"/>
            <a:ext cx="521732" cy="5217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1958" y="1803678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Trello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041958" y="2099429"/>
            <a:ext cx="250376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visual mediante tableros Kanban. Muy flexible y fácil de usar, popular entre equipos de todos los tamaños.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407" y="1803678"/>
            <a:ext cx="521732" cy="5217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40822" y="1803678"/>
            <a:ext cx="2503765" cy="46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Asana, Basecamp, Monday.com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340822" y="2329577"/>
            <a:ext cx="250376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Plataformas de colaboración con calendarios, seguimiento de avances, comunicación integrada y gestión de tareas en tiempo real.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85813" y="3347729"/>
            <a:ext cx="13058775" cy="25956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785813" y="3537704"/>
            <a:ext cx="305954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Métricas Clave del Software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85813" y="4087297"/>
            <a:ext cx="202227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Medición de Software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785813" y="4440436"/>
            <a:ext cx="3120152" cy="1280636"/>
          </a:xfrm>
          <a:prstGeom prst="roundRect">
            <a:avLst>
              <a:gd name="adj" fmla="val 17260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48333" y="4602956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LOC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48333" y="4942403"/>
            <a:ext cx="2795111" cy="616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Líneas de código: mide tamaño, pero no refleja necesariamente complejidad o calidad.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015264" y="4440436"/>
            <a:ext cx="3120271" cy="1280636"/>
          </a:xfrm>
          <a:prstGeom prst="roundRect">
            <a:avLst>
              <a:gd name="adj" fmla="val 17260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177784" y="4602956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FP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177784" y="4942403"/>
            <a:ext cx="2795230" cy="616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Puntos de función: mide el tamaño funcional basado en la funcionalidad proporcionada.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85813" y="5830372"/>
            <a:ext cx="6349722" cy="869871"/>
          </a:xfrm>
          <a:prstGeom prst="roundRect">
            <a:avLst>
              <a:gd name="adj" fmla="val 25410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48333" y="5992892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Complejidad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48333" y="6332339"/>
            <a:ext cx="602468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Complejidad ciclomática: identifica áreas de código difíciles de mantener o probar.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502485" y="4087297"/>
            <a:ext cx="1926788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Calidad del Software</a:t>
            </a:r>
            <a:endParaRPr lang="en-US" sz="1450" dirty="0"/>
          </a:p>
        </p:txBody>
      </p:sp>
      <p:sp>
        <p:nvSpPr>
          <p:cNvPr id="32" name="Shape 26"/>
          <p:cNvSpPr/>
          <p:nvPr/>
        </p:nvSpPr>
        <p:spPr>
          <a:xfrm>
            <a:off x="7502485" y="4440436"/>
            <a:ext cx="3120152" cy="1075253"/>
          </a:xfrm>
          <a:prstGeom prst="roundRect">
            <a:avLst>
              <a:gd name="adj" fmla="val 20556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665006" y="4602956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DPLC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7665006" y="4942403"/>
            <a:ext cx="279511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Defectos por línea de código: indica la calidad del código fuente producido.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10731937" y="4440436"/>
            <a:ext cx="3120271" cy="1075253"/>
          </a:xfrm>
          <a:prstGeom prst="roundRect">
            <a:avLst>
              <a:gd name="adj" fmla="val 20556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894457" y="4602956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Cobertura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10894457" y="4942403"/>
            <a:ext cx="279523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Proporción del código ejecutada por pruebas automatizadas.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502485" y="5624989"/>
            <a:ext cx="6349722" cy="869871"/>
          </a:xfrm>
          <a:prstGeom prst="roundRect">
            <a:avLst>
              <a:gd name="adj" fmla="val 25410"/>
            </a:avLst>
          </a:prstGeom>
          <a:solidFill>
            <a:srgbClr val="FFFFFF"/>
          </a:solidFill>
          <a:ln w="15240">
            <a:solidFill>
              <a:srgbClr val="B3D5E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665006" y="5787509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MTBF</a:t>
            </a:r>
            <a:endParaRPr lang="en-US" sz="1450" dirty="0"/>
          </a:p>
        </p:txBody>
      </p:sp>
      <p:sp>
        <p:nvSpPr>
          <p:cNvPr id="40" name="Text 34"/>
          <p:cNvSpPr/>
          <p:nvPr/>
        </p:nvSpPr>
        <p:spPr>
          <a:xfrm>
            <a:off x="7665006" y="6126956"/>
            <a:ext cx="602468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Tiempo medio entre fallos: evalúa la confiabilidad del software en producción.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785813" y="6946225"/>
            <a:ext cx="13058775" cy="728782"/>
          </a:xfrm>
          <a:prstGeom prst="roundRect">
            <a:avLst>
              <a:gd name="adj" fmla="val 30329"/>
            </a:avLst>
          </a:prstGeom>
          <a:solidFill>
            <a:srgbClr val="B3E7FE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93" y="7153751"/>
            <a:ext cx="184190" cy="1472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64563" y="7092315"/>
            <a:ext cx="12432744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Las métricas deben seleccionarse alineadas con los objetivos del proyecto, recopilarse regularmente, comunicarse a todas las partes interesadas y usarse para adaptar los procesos de mejora continua.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771"/>
            <a:ext cx="567095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425297" y="605076"/>
            <a:ext cx="1576268" cy="213598"/>
          </a:xfrm>
          <a:prstGeom prst="roundRect">
            <a:avLst>
              <a:gd name="adj" fmla="val 72477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502688" y="643771"/>
            <a:ext cx="1421487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PLANIFICACIÓN Y ESTIMACIÓN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93790" y="852130"/>
            <a:ext cx="8041600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Actividades Clave en la Planificación y Estimación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93790" y="1381006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planificación rigurosa y la estimación precisa son la columna vertebral de todo proyecto de software exitoso. Estas actividades permiten anticipar necesidades y controlar la ejecución.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3790" y="1645563"/>
            <a:ext cx="290155" cy="290155"/>
          </a:xfrm>
          <a:prstGeom prst="roundRect">
            <a:avLst>
              <a:gd name="adj" fmla="val 6669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2070" y="1669673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7765" y="168985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Estimación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67765" y="1941552"/>
            <a:ext cx="12668845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 y estimar los recursos necesarios (tiempo, dinero, personal) utilizando técnicas como estimación por puntos de función, tres puntos o estimación analógica. Validar siempre con expertos.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3790" y="2279452"/>
            <a:ext cx="290155" cy="290155"/>
          </a:xfrm>
          <a:prstGeom prst="roundRect">
            <a:avLst>
              <a:gd name="adj" fmla="val 6669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070" y="2303562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67765" y="232374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Calendarización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67765" y="2575441"/>
            <a:ext cx="12668845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Secuenciar tareas en un cronograma lógico con herramientas como Gantt o PERT/CPM, considerando dependencias, recursos disponibles y restricciones del proyecto.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3790" y="2913340"/>
            <a:ext cx="290155" cy="290155"/>
          </a:xfrm>
          <a:prstGeom prst="roundRect">
            <a:avLst>
              <a:gd name="adj" fmla="val 6669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070" y="2937450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67765" y="295763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Análisis de Riesgos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67765" y="3209330"/>
            <a:ext cx="12668845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 riesgos potenciales (retrasos, cambios de requisitos, problemas de recursos), analizar su probabilidad e impacto, y desarrollar estrategias de mitigación y contingencia.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3790" y="3547229"/>
            <a:ext cx="290155" cy="290155"/>
          </a:xfrm>
          <a:prstGeom prst="roundRect">
            <a:avLst>
              <a:gd name="adj" fmla="val 6669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070" y="3571339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67765" y="3591520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Gestión de Calidad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7765" y="3843218"/>
            <a:ext cx="12668845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Definir estándares y procesos de calidad, establecer KPIs y actividades de aseguramiento como revisiones de código, pruebas de software y auditorías.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3790" y="4181118"/>
            <a:ext cx="290155" cy="290155"/>
          </a:xfrm>
          <a:prstGeom prst="roundRect">
            <a:avLst>
              <a:gd name="adj" fmla="val 6669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070" y="4205228"/>
            <a:ext cx="19347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67765" y="4225409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Gestión de Cambio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67765" y="4477107"/>
            <a:ext cx="12668845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 posibles cambios, desarrollar procesos de control, evaluar impactos y asignar responsabilidades claras para gestionar modificaciones de manera oportuna.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3790" y="4806063"/>
            <a:ext cx="13042821" cy="23693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93790" y="4955381"/>
            <a:ext cx="4387334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Estimación de Proyectos: Recursos y Técnicas</a:t>
            </a:r>
            <a:endParaRPr lang="en-US" sz="15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5322927"/>
            <a:ext cx="6521410" cy="51601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22734" y="5922764"/>
            <a:ext cx="174855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Ámbito y Factibilidad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22734" y="6174462"/>
            <a:ext cx="62635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Definir requisitos, identificar riesgos y evaluar viabilidad técnica y financiera.</a:t>
            </a:r>
            <a:endParaRPr lang="en-US" sz="1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322927"/>
            <a:ext cx="6521410" cy="51601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444145" y="5922764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Recursos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7444145" y="6174462"/>
            <a:ext cx="62635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Humanos, reutilizables (bibliotecas, frameworks) y ambientales (infraestructura, herramientas).</a:t>
            </a:r>
            <a:endParaRPr lang="en-US" sz="10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473666"/>
            <a:ext cx="6521410" cy="516017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22734" y="707350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Descomposición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922734" y="7325201"/>
            <a:ext cx="62635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Jerárquica, funcional y por entregables para facilitar la asignación de recursos.</a:t>
            </a:r>
            <a:endParaRPr lang="en-US" sz="10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473666"/>
            <a:ext cx="6521410" cy="516017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444145" y="707350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Modelos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7444145" y="7325201"/>
            <a:ext cx="62635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Puntos de Función, COCOMO y otros modelos basados en datos históricos.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5193"/>
            <a:ext cx="531138" cy="128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7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1352907" y="558165"/>
            <a:ext cx="1511498" cy="202287"/>
          </a:xfrm>
          <a:prstGeom prst="roundRect">
            <a:avLst>
              <a:gd name="adj" fmla="val 73273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426964" y="595193"/>
            <a:ext cx="1363385" cy="128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CALENDARIZACIÓN Y RIESGOS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0095" y="791170"/>
            <a:ext cx="8971478" cy="38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Calendarización del Proyecto y Administración de Riesgos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0095" y="1292423"/>
            <a:ext cx="13110210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calendarización sólida y una gestión proactiva de riesgos son esenciales para mantener el proyecto en rumbo y dentro de los parámetros acordados.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07580" y="1539002"/>
            <a:ext cx="15240" cy="3454479"/>
          </a:xfrm>
          <a:prstGeom prst="roundRect">
            <a:avLst>
              <a:gd name="adj" fmla="val 1215732"/>
            </a:avLst>
          </a:prstGeom>
          <a:solidFill>
            <a:srgbClr val="B3D5E4"/>
          </a:solidFill>
          <a:ln/>
        </p:spPr>
      </p:sp>
      <p:sp>
        <p:nvSpPr>
          <p:cNvPr id="8" name="Shape 6"/>
          <p:cNvSpPr/>
          <p:nvPr/>
        </p:nvSpPr>
        <p:spPr>
          <a:xfrm>
            <a:off x="6820972" y="1670328"/>
            <a:ext cx="370523" cy="15240"/>
          </a:xfrm>
          <a:prstGeom prst="roundRect">
            <a:avLst>
              <a:gd name="adj" fmla="val 1215732"/>
            </a:avLst>
          </a:prstGeom>
          <a:solidFill>
            <a:srgbClr val="B3D5E4"/>
          </a:solidFill>
          <a:ln/>
        </p:spPr>
      </p:sp>
      <p:sp>
        <p:nvSpPr>
          <p:cNvPr id="9" name="Shape 7"/>
          <p:cNvSpPr/>
          <p:nvPr/>
        </p:nvSpPr>
        <p:spPr>
          <a:xfrm>
            <a:off x="7176254" y="1539002"/>
            <a:ext cx="277892" cy="277892"/>
          </a:xfrm>
          <a:prstGeom prst="roundRect">
            <a:avLst>
              <a:gd name="adj" fmla="val 6667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2569" y="1562160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153739" y="1581388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Calendarios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0095" y="1820466"/>
            <a:ext cx="5937528" cy="32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Definir días y horas laborables, feriados y vacaciones del equipo para establecer la disponibilidad real de recursos.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38906" y="2318028"/>
            <a:ext cx="370523" cy="15240"/>
          </a:xfrm>
          <a:prstGeom prst="roundRect">
            <a:avLst>
              <a:gd name="adj" fmla="val 1215732"/>
            </a:avLst>
          </a:prstGeom>
          <a:solidFill>
            <a:srgbClr val="B3D5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176254" y="2186702"/>
            <a:ext cx="277892" cy="277892"/>
          </a:xfrm>
          <a:prstGeom prst="roundRect">
            <a:avLst>
              <a:gd name="adj" fmla="val 6667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2569" y="2209860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32777" y="2229088"/>
            <a:ext cx="1807964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Asignación de Esfuerzo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32777" y="2468166"/>
            <a:ext cx="5937528" cy="32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Asignar recursos humanos a tareas específicas según disponibilidad, habilidades y carga de trabajo de cada persona.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20972" y="2910126"/>
            <a:ext cx="370523" cy="15240"/>
          </a:xfrm>
          <a:prstGeom prst="roundRect">
            <a:avLst>
              <a:gd name="adj" fmla="val 1215732"/>
            </a:avLst>
          </a:prstGeom>
          <a:solidFill>
            <a:srgbClr val="B3D5E4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6254" y="2778800"/>
            <a:ext cx="277892" cy="277892"/>
          </a:xfrm>
          <a:prstGeom prst="roundRect">
            <a:avLst>
              <a:gd name="adj" fmla="val 6667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2569" y="2801957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53739" y="2821186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Tareas de Software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0095" y="3060263"/>
            <a:ext cx="5937528" cy="32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Análisis de requisitos, diseño, desarrollo, pruebas e implementación: cada actividad debe estar calendarizada.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38906" y="3502223"/>
            <a:ext cx="370523" cy="15240"/>
          </a:xfrm>
          <a:prstGeom prst="roundRect">
            <a:avLst>
              <a:gd name="adj" fmla="val 1215732"/>
            </a:avLst>
          </a:prstGeom>
          <a:solidFill>
            <a:srgbClr val="B3D5E4"/>
          </a:solidFill>
          <a:ln/>
        </p:spPr>
      </p:sp>
      <p:sp>
        <p:nvSpPr>
          <p:cNvPr id="24" name="Shape 22"/>
          <p:cNvSpPr/>
          <p:nvPr/>
        </p:nvSpPr>
        <p:spPr>
          <a:xfrm>
            <a:off x="7176254" y="3370897"/>
            <a:ext cx="277892" cy="277892"/>
          </a:xfrm>
          <a:prstGeom prst="roundRect">
            <a:avLst>
              <a:gd name="adj" fmla="val 6667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2569" y="3394055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932777" y="3413284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Cronogramas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32777" y="3652361"/>
            <a:ext cx="5937528" cy="32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Representaciones visuales (Gantt, PERT/CPM) que muestran secuencia, dependencias y plazos de entrega.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20972" y="4094321"/>
            <a:ext cx="370523" cy="15240"/>
          </a:xfrm>
          <a:prstGeom prst="roundRect">
            <a:avLst>
              <a:gd name="adj" fmla="val 1215732"/>
            </a:avLst>
          </a:prstGeom>
          <a:solidFill>
            <a:srgbClr val="B3D5E4"/>
          </a:solidFill>
          <a:ln/>
        </p:spPr>
      </p:sp>
      <p:sp>
        <p:nvSpPr>
          <p:cNvPr id="29" name="Shape 27"/>
          <p:cNvSpPr/>
          <p:nvPr/>
        </p:nvSpPr>
        <p:spPr>
          <a:xfrm>
            <a:off x="7176254" y="3962995"/>
            <a:ext cx="277892" cy="277892"/>
          </a:xfrm>
          <a:prstGeom prst="roundRect">
            <a:avLst>
              <a:gd name="adj" fmla="val 6667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2569" y="3986153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153739" y="4005382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0095" y="4244459"/>
            <a:ext cx="5937528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Monitorear progreso vs. plan, identificar desviaciones y tomar medidas correctivas oportunas.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0095" y="5141637"/>
            <a:ext cx="13110210" cy="22979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60095" y="5279827"/>
            <a:ext cx="3836789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Estrategias de Administración de Riesgos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760095" y="5626656"/>
            <a:ext cx="6516648" cy="661392"/>
          </a:xfrm>
          <a:prstGeom prst="roundRect">
            <a:avLst>
              <a:gd name="adj" fmla="val 4482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183" y="5757743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Evitar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1183" y="5996821"/>
            <a:ext cx="6254472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Eliminar la posibilidad del riesgo, por ejemplo, evitando tecnologías no probadas en el proyecto.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53538" y="5626656"/>
            <a:ext cx="6516767" cy="661392"/>
          </a:xfrm>
          <a:prstGeom prst="roundRect">
            <a:avLst>
              <a:gd name="adj" fmla="val 4482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84626" y="5757743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Reducir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84626" y="5996821"/>
            <a:ext cx="6254591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Mitigar impacto o probabilidad mediante pruebas exhaustivas y buenas prácticas de desarrollo.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0095" y="6364843"/>
            <a:ext cx="6516648" cy="661392"/>
          </a:xfrm>
          <a:prstGeom prst="roundRect">
            <a:avLst>
              <a:gd name="adj" fmla="val 4482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1183" y="6495931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Transferir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91183" y="6735008"/>
            <a:ext cx="6254472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Trasladar la responsabilidad a terceros: seguros profesionales o subcontratación de actividades.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53538" y="6364843"/>
            <a:ext cx="6516767" cy="661392"/>
          </a:xfrm>
          <a:prstGeom prst="roundRect">
            <a:avLst>
              <a:gd name="adj" fmla="val 4482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84626" y="6495931"/>
            <a:ext cx="1543883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Asumir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84626" y="6735008"/>
            <a:ext cx="6254591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Aceptar el riesgo y prepararse para enfrentar las consecuencias cuando la mitigación es prohibitiva.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0095" y="7112675"/>
            <a:ext cx="13110210" cy="558760"/>
          </a:xfrm>
          <a:prstGeom prst="roundRect">
            <a:avLst>
              <a:gd name="adj" fmla="val 33159"/>
            </a:avLst>
          </a:prstGeom>
          <a:solidFill>
            <a:srgbClr val="B3E7FE"/>
          </a:solidFill>
          <a:ln/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563" y="7280791"/>
            <a:ext cx="154305" cy="123468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161336" y="7220307"/>
            <a:ext cx="12585502" cy="32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Proceso de gestión de riesgos: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Identificación → Clasificación (probabilidad e impacto) → Proyección (análisis cualitativo y cuantitativo) → Desarrollo de planes de contingencia → Monitorización continua del entorno del proyecto.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595074"/>
            <a:ext cx="554474" cy="133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399461" y="556974"/>
            <a:ext cx="2038707" cy="209431"/>
          </a:xfrm>
          <a:prstGeom prst="roundRect">
            <a:avLst>
              <a:gd name="adj" fmla="val 72774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475661" y="595074"/>
            <a:ext cx="1886307" cy="133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SOLUCIÓN DE PROBLEMAS Y SEGURIDAD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1526" y="798909"/>
            <a:ext cx="933890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Solución de Problemas y Normas de Seguridad en Internet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1526" y="1317546"/>
            <a:ext cx="13067348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capacidad de resolver problemas de forma estructurada es una competencia esencial, complementada por el conocimiento de las normas legales que protegen a los menores en el entorno digital.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1526" y="1605915"/>
            <a:ext cx="37095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Proceso para la Solución de Problemas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1526" y="1965841"/>
            <a:ext cx="126921" cy="1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26" y="2166342"/>
            <a:ext cx="6493073" cy="15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526" y="2260283"/>
            <a:ext cx="1587579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Identificación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1526" y="2507337"/>
            <a:ext cx="6493073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Comprender claramente cuál es el problema que se enfrenta.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55800" y="1965841"/>
            <a:ext cx="126921" cy="1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800" y="2166342"/>
            <a:ext cx="6493073" cy="15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55800" y="2260283"/>
            <a:ext cx="1587579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Análisis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355800" y="2507337"/>
            <a:ext cx="6493073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Investigar las causas subyacentes y comprender sus implicaciones.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81526" y="2850356"/>
            <a:ext cx="126921" cy="1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6" y="3038237"/>
            <a:ext cx="6493073" cy="15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526" y="3144798"/>
            <a:ext cx="2124908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Generación de alternativas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81526" y="3391853"/>
            <a:ext cx="6493073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Explorar múltiples enfoques mediante brainstorming y pensamiento lateral.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355800" y="2850356"/>
            <a:ext cx="126921" cy="1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800" y="3038237"/>
            <a:ext cx="6493073" cy="152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55800" y="3144798"/>
            <a:ext cx="1587579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Evaluación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55800" y="3391853"/>
            <a:ext cx="6493073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Analizar viabilidad, efectividad y posibles consecuencias de cada solución.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81526" y="3734872"/>
            <a:ext cx="126921" cy="1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26" y="3910013"/>
            <a:ext cx="6493073" cy="152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1526" y="4029313"/>
            <a:ext cx="1587579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Implementación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81526" y="4276368"/>
            <a:ext cx="6493073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Elegir la mejor solución y ponerla en práctica.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355800" y="3734872"/>
            <a:ext cx="126921" cy="1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0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800" y="3910013"/>
            <a:ext cx="6493073" cy="152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55800" y="4029313"/>
            <a:ext cx="1587579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Seguimiento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7355800" y="4276368"/>
            <a:ext cx="6493073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Monitorear resultados y realizar ajustes según sea necesario.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972026" y="4720828"/>
            <a:ext cx="12876848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actitud proactiva y positiva hacia los problemas es fundamental. En lugar de ver los problemas como obstáculos insuperables, es importante verlos como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oportunidades para crecer, aprender y mejorar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781526" y="4591526"/>
            <a:ext cx="15240" cy="349210"/>
          </a:xfrm>
          <a:prstGeom prst="rect">
            <a:avLst/>
          </a:prstGeom>
          <a:solidFill>
            <a:srgbClr val="AAE4FE"/>
          </a:solidFill>
          <a:ln/>
        </p:spPr>
      </p:sp>
      <p:sp>
        <p:nvSpPr>
          <p:cNvPr id="34" name="Shape 26"/>
          <p:cNvSpPr/>
          <p:nvPr/>
        </p:nvSpPr>
        <p:spPr>
          <a:xfrm>
            <a:off x="781526" y="5095481"/>
            <a:ext cx="13067348" cy="23455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781526" y="5278636"/>
            <a:ext cx="55741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Normas Legales para la Protección de Menores en Internet</a:t>
            </a:r>
            <a:endParaRPr lang="en-US" sz="15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526" y="5600581"/>
            <a:ext cx="253960" cy="2539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81526" y="5994083"/>
            <a:ext cx="1587579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Privacidad y datos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81526" y="6241137"/>
            <a:ext cx="6482834" cy="33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Leyes que requieren consentimiento parental para recopilar información personal de niños y establecen requisitos estrictos de protección de privacidad en línea.</a:t>
            </a:r>
            <a:endParaRPr lang="en-US" sz="10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5921" y="5600581"/>
            <a:ext cx="253960" cy="25396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365921" y="5994083"/>
            <a:ext cx="2075617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Prevención del ciberacoso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7365921" y="6241137"/>
            <a:ext cx="6482953" cy="33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Legislación para prevenir y sancionar la intimidación en línea, definiendo el ciberacoso y proporcionando recursos para las víctimas.</a:t>
            </a:r>
            <a:endParaRPr lang="en-US" sz="10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526" y="6698813"/>
            <a:ext cx="253960" cy="2539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81526" y="7092315"/>
            <a:ext cx="1587579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Control parental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781526" y="7339370"/>
            <a:ext cx="6482834" cy="33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Regulaciones que requieren filtros de contenido y controles parentales integrados en navegadores, buscadores y redes sociales.</a:t>
            </a:r>
            <a:endParaRPr lang="en-US" sz="10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65921" y="6698813"/>
            <a:ext cx="253960" cy="25396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7365921" y="7092315"/>
            <a:ext cx="2019181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Educación y restricciones</a:t>
            </a:r>
            <a:endParaRPr lang="en-US" sz="1250" dirty="0"/>
          </a:p>
        </p:txBody>
      </p:sp>
      <p:sp>
        <p:nvSpPr>
          <p:cNvPr id="47" name="Text 35"/>
          <p:cNvSpPr/>
          <p:nvPr/>
        </p:nvSpPr>
        <p:spPr>
          <a:xfrm>
            <a:off x="7365921" y="7339370"/>
            <a:ext cx="6482953" cy="33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Programas obligatorios de seguridad en línea en escuelas y restricciones de edad para ciertos servicios digitales.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53929"/>
            <a:ext cx="1116806" cy="213598"/>
          </a:xfrm>
          <a:prstGeom prst="roundRect">
            <a:avLst>
              <a:gd name="adj" fmla="val 72477"/>
            </a:avLst>
          </a:prstGeom>
          <a:solidFill>
            <a:srgbClr val="CDEF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180" y="1009174"/>
            <a:ext cx="103108" cy="103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843" y="992624"/>
            <a:ext cx="807363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PROYECTO FINAL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3790" y="1200983"/>
            <a:ext cx="8471297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Trabajo de Presentación: Plan de Proyecto Completo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1729859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estudiantes elegirán un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proyecto de software ficticio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desarrollarán un plan de proyecto completo para su ejecución. Deben incluir todos los elementos clave estudiados en esta unidad.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¡Sean creativos!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3790" y="2025848"/>
            <a:ext cx="3123009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Elementos Obligatorios del Plan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3790" y="2586871"/>
            <a:ext cx="6479500" cy="888563"/>
          </a:xfrm>
          <a:prstGeom prst="roundRect">
            <a:avLst>
              <a:gd name="adj" fmla="val 8233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1631"/>
            <a:ext cx="6479500" cy="6096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004" y="2393394"/>
            <a:ext cx="386953" cy="3869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56090" y="2490073"/>
            <a:ext cx="154781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37974" y="2909292"/>
            <a:ext cx="1694378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Alcance del Proyecto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37974" y="3160990"/>
            <a:ext cx="619113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Definición clara de qué incluye y qué excluye el proyecto, con objetivos y entregables.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357110" y="2586871"/>
            <a:ext cx="6479500" cy="888563"/>
          </a:xfrm>
          <a:prstGeom prst="roundRect">
            <a:avLst>
              <a:gd name="adj" fmla="val 8233"/>
            </a:avLst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110" y="2571631"/>
            <a:ext cx="6479500" cy="6096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3324" y="2393394"/>
            <a:ext cx="386953" cy="38695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9410" y="2490073"/>
            <a:ext cx="154781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7501295" y="2909292"/>
            <a:ext cx="238065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Programación de Actividades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7501295" y="3160990"/>
            <a:ext cx="619113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Cronograma con diagrama de Gantt, hitos clave y dependencias entre tareas.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793790" y="3752731"/>
            <a:ext cx="6479500" cy="888563"/>
          </a:xfrm>
          <a:prstGeom prst="roundRect">
            <a:avLst>
              <a:gd name="adj" fmla="val 8233"/>
            </a:avLst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3737491"/>
            <a:ext cx="6479500" cy="6096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004" y="3559254"/>
            <a:ext cx="386953" cy="38695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56090" y="3655933"/>
            <a:ext cx="154781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937974" y="4075152"/>
            <a:ext cx="1920359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Asignación de Recursos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937974" y="4326850"/>
            <a:ext cx="619113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Equipo de trabajo, roles, herramientas y presupuesto estimado del proyecto.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7357110" y="3752731"/>
            <a:ext cx="6479500" cy="888563"/>
          </a:xfrm>
          <a:prstGeom prst="roundRect">
            <a:avLst>
              <a:gd name="adj" fmla="val 8233"/>
            </a:avLst>
          </a:prstGeom>
          <a:solidFill>
            <a:srgbClr val="FFFFFF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110" y="3737491"/>
            <a:ext cx="6479500" cy="60960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3324" y="3559254"/>
            <a:ext cx="386953" cy="38695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0519410" y="3655933"/>
            <a:ext cx="154781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7501295" y="407515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Gestión de Riesgos</a:t>
            </a:r>
            <a:endParaRPr lang="en-US" sz="1250" dirty="0"/>
          </a:p>
        </p:txBody>
      </p:sp>
      <p:sp>
        <p:nvSpPr>
          <p:cNvPr id="31" name="Text 20"/>
          <p:cNvSpPr/>
          <p:nvPr/>
        </p:nvSpPr>
        <p:spPr>
          <a:xfrm>
            <a:off x="7501295" y="4326850"/>
            <a:ext cx="619113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Identificación de riesgos, análisis de probabilidad e impacto, y estrategias de mitigación.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793790" y="4799991"/>
            <a:ext cx="13042821" cy="23693"/>
          </a:xfrm>
          <a:prstGeom prst="rect">
            <a:avLst/>
          </a:prstGeom>
          <a:solidFill>
            <a:srgbClr val="5B6E8C">
              <a:alpha val="50000"/>
            </a:srgbClr>
          </a:solidFill>
          <a:ln/>
        </p:spPr>
      </p:sp>
      <p:sp>
        <p:nvSpPr>
          <p:cNvPr id="33" name="Text 22"/>
          <p:cNvSpPr/>
          <p:nvPr/>
        </p:nvSpPr>
        <p:spPr>
          <a:xfrm>
            <a:off x="793790" y="4949309"/>
            <a:ext cx="2829044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Ideas de Proyectos Sugeridos</a:t>
            </a:r>
            <a:endParaRPr lang="en-US" sz="15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90" y="5316855"/>
            <a:ext cx="1199555" cy="741283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93790" y="616291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Aplicación Móvil</a:t>
            </a:r>
            <a:endParaRPr lang="en-US" sz="1250" dirty="0"/>
          </a:p>
        </p:txBody>
      </p:sp>
      <p:sp>
        <p:nvSpPr>
          <p:cNvPr id="36" name="Text 24"/>
          <p:cNvSpPr/>
          <p:nvPr/>
        </p:nvSpPr>
        <p:spPr>
          <a:xfrm>
            <a:off x="793790" y="6414611"/>
            <a:ext cx="3182064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Desarrollo de una app innovadora que resuelva una necesidad real del mercado.</a:t>
            </a:r>
            <a:endParaRPr lang="en-US" sz="10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0629" y="5316855"/>
            <a:ext cx="1199674" cy="74140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080629" y="616303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Control de Clientes</a:t>
            </a:r>
            <a:endParaRPr lang="en-US" sz="1250" dirty="0"/>
          </a:p>
        </p:txBody>
      </p:sp>
      <p:sp>
        <p:nvSpPr>
          <p:cNvPr id="39" name="Text 26"/>
          <p:cNvSpPr/>
          <p:nvPr/>
        </p:nvSpPr>
        <p:spPr>
          <a:xfrm>
            <a:off x="4080629" y="6414730"/>
            <a:ext cx="3182183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Sistema de reservación y gestión de clientes con funcionalidades de seguimiento.</a:t>
            </a:r>
            <a:endParaRPr lang="en-US" sz="10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7587" y="5316855"/>
            <a:ext cx="1199555" cy="741283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7367587" y="6162913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Videojuego</a:t>
            </a:r>
            <a:endParaRPr lang="en-US" sz="1250" dirty="0"/>
          </a:p>
        </p:txBody>
      </p:sp>
      <p:sp>
        <p:nvSpPr>
          <p:cNvPr id="42" name="Text 28"/>
          <p:cNvSpPr/>
          <p:nvPr/>
        </p:nvSpPr>
        <p:spPr>
          <a:xfrm>
            <a:off x="7367587" y="6414611"/>
            <a:ext cx="3182064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 y desarrollo de un videojuego con su planificación completa de producción.</a:t>
            </a:r>
            <a:endParaRPr lang="en-US" sz="10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54427" y="5316855"/>
            <a:ext cx="1199674" cy="741402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10654427" y="6163032"/>
            <a:ext cx="190476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Plataforma de Reservas</a:t>
            </a:r>
            <a:endParaRPr lang="en-US" sz="1250" dirty="0"/>
          </a:p>
        </p:txBody>
      </p:sp>
      <p:sp>
        <p:nvSpPr>
          <p:cNvPr id="45" name="Text 30"/>
          <p:cNvSpPr/>
          <p:nvPr/>
        </p:nvSpPr>
        <p:spPr>
          <a:xfrm>
            <a:off x="10654427" y="6414730"/>
            <a:ext cx="3182183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Sistema de reservas en línea con gestión de disponibilidad y confirmaciones automáticas.</a:t>
            </a:r>
            <a:endParaRPr lang="en-US" sz="1000" dirty="0"/>
          </a:p>
        </p:txBody>
      </p:sp>
      <p:sp>
        <p:nvSpPr>
          <p:cNvPr id="46" name="Shape 31"/>
          <p:cNvSpPr/>
          <p:nvPr/>
        </p:nvSpPr>
        <p:spPr>
          <a:xfrm>
            <a:off x="793790" y="6849547"/>
            <a:ext cx="13042821" cy="426006"/>
          </a:xfrm>
          <a:prstGeom prst="roundRect">
            <a:avLst>
              <a:gd name="adj" fmla="val 45425"/>
            </a:avLst>
          </a:prstGeom>
          <a:solidFill>
            <a:srgbClr val="B3E7FE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734" y="7027307"/>
            <a:ext cx="161211" cy="128945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1212890" y="6965513"/>
            <a:ext cx="12494776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recomendadas para diseño web: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Utilicen herramientas como Figma, Adobe XD o Canva para diseñar las interfaces de su proyecto, y documenten todo el proceso en su presentación final.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2026-02-24T23:14:59Z</dcterms:created>
  <dcterms:modified xsi:type="dcterms:W3CDTF">2026-02-24T23:14:59Z</dcterms:modified>
</cp:coreProperties>
</file>