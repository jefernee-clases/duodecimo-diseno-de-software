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6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565C0"/>
          </a:solidFill>
          <a:ln w="12700">
            <a:solidFill>
              <a:srgbClr val="1565C0"/>
            </a:solidFill>
            <a:prstDash val="solid"/>
          </a:ln>
        </p:spPr>
      </p:sp>
      <p:sp>
        <p:nvSpPr>
          <p:cNvPr id="3" name="Shape 1"/>
          <p:cNvSpPr/>
          <p:nvPr/>
        </p:nvSpPr>
        <p:spPr>
          <a:xfrm>
            <a:off x="0" y="3291840"/>
            <a:ext cx="9144000" cy="1851660"/>
          </a:xfrm>
          <a:prstGeom prst="rect">
            <a:avLst/>
          </a:prstGeom>
          <a:solidFill>
            <a:srgbClr val="0D47A1"/>
          </a:solidFill>
          <a:ln w="12700">
            <a:solidFill>
              <a:srgbClr val="0D47A1"/>
            </a:solidFill>
            <a:prstDash val="solid"/>
          </a:ln>
        </p:spPr>
      </p:sp>
      <p:sp>
        <p:nvSpPr>
          <p:cNvPr id="4" name="Text 2"/>
          <p:cNvSpPr/>
          <p:nvPr/>
        </p:nvSpPr>
        <p:spPr>
          <a:xfrm>
            <a:off x="548640" y="822960"/>
            <a:ext cx="8046720" cy="457200"/>
          </a:xfrm>
          <a:prstGeom prst="rect">
            <a:avLst/>
          </a:prstGeom>
          <a:noFill/>
          <a:ln/>
        </p:spPr>
        <p:txBody>
          <a:bodyPr wrap="square" rtlCol="0" anchor="ctr"/>
          <a:lstStyle/>
          <a:p>
            <a:pPr marL="0" indent="0" algn="ctr">
              <a:buNone/>
            </a:pPr>
            <a:r>
              <a:rPr lang="en-US" sz="1600" i="1" dirty="0">
                <a:solidFill>
                  <a:srgbClr val="BBDEFB"/>
                </a:solidFill>
                <a:latin typeface="Calibri" pitchFamily="34" charset="0"/>
                <a:ea typeface="Calibri" pitchFamily="34" charset="-122"/>
                <a:cs typeface="Calibri" pitchFamily="34" charset="-120"/>
              </a:rPr>
              <a:t>Ingeniería de Software</a:t>
            </a:r>
            <a:endParaRPr lang="en-US" sz="1600" dirty="0"/>
          </a:p>
        </p:txBody>
      </p:sp>
      <p:sp>
        <p:nvSpPr>
          <p:cNvPr id="5" name="Text 3"/>
          <p:cNvSpPr/>
          <p:nvPr/>
        </p:nvSpPr>
        <p:spPr>
          <a:xfrm>
            <a:off x="548640" y="1325880"/>
            <a:ext cx="8046720" cy="91440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Métricas de Software</a:t>
            </a:r>
            <a:endParaRPr lang="en-US" sz="4200" dirty="0"/>
          </a:p>
        </p:txBody>
      </p:sp>
      <p:sp>
        <p:nvSpPr>
          <p:cNvPr id="6" name="Text 4"/>
          <p:cNvSpPr/>
          <p:nvPr/>
        </p:nvSpPr>
        <p:spPr>
          <a:xfrm>
            <a:off x="548640" y="2331720"/>
            <a:ext cx="8046720" cy="548640"/>
          </a:xfrm>
          <a:prstGeom prst="rect">
            <a:avLst/>
          </a:prstGeom>
          <a:noFill/>
          <a:ln/>
        </p:spPr>
        <p:txBody>
          <a:bodyPr wrap="square" rtlCol="0" anchor="ctr"/>
          <a:lstStyle/>
          <a:p>
            <a:pPr marL="0" indent="0" algn="ctr">
              <a:buNone/>
            </a:pPr>
            <a:r>
              <a:rPr lang="en-US" sz="1900" dirty="0">
                <a:solidFill>
                  <a:srgbClr val="BBDEFB"/>
                </a:solidFill>
                <a:latin typeface="Calibri" pitchFamily="34" charset="0"/>
                <a:ea typeface="Calibri" pitchFamily="34" charset="-122"/>
                <a:cs typeface="Calibri" pitchFamily="34" charset="-120"/>
              </a:rPr>
              <a:t>¿Cómo sabemos si un proyecto de software va bien?</a:t>
            </a:r>
            <a:endParaRPr lang="en-US" sz="1900" dirty="0"/>
          </a:p>
        </p:txBody>
      </p:sp>
      <p:sp>
        <p:nvSpPr>
          <p:cNvPr id="7" name="Text 5"/>
          <p:cNvSpPr/>
          <p:nvPr/>
        </p:nvSpPr>
        <p:spPr>
          <a:xfrm>
            <a:off x="548640" y="3520440"/>
            <a:ext cx="8046720" cy="411480"/>
          </a:xfrm>
          <a:prstGeom prst="rect">
            <a:avLst/>
          </a:prstGeom>
          <a:noFill/>
          <a:ln/>
        </p:spPr>
        <p:txBody>
          <a:bodyPr wrap="square" rtlCol="0" anchor="ctr"/>
          <a:lstStyle/>
          <a:p>
            <a:pPr marL="0" indent="0" algn="ctr">
              <a:buNone/>
            </a:pPr>
            <a:r>
              <a:rPr lang="en-US" sz="1400" dirty="0">
                <a:solidFill>
                  <a:srgbClr val="BBDEFB"/>
                </a:solidFill>
                <a:latin typeface="Calibri" pitchFamily="34" charset="0"/>
                <a:ea typeface="Calibri" pitchFamily="34" charset="-122"/>
                <a:cs typeface="Calibri" pitchFamily="34" charset="-120"/>
              </a:rPr>
              <a:t>Lección 1  •  Duodécimos  •  Actividad en Google Sheets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¿Qué es una métrica de software?</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365760" y="1143000"/>
            <a:ext cx="64008" cy="777240"/>
          </a:xfrm>
          <a:prstGeom prst="rect">
            <a:avLst/>
          </a:prstGeom>
          <a:solidFill>
            <a:srgbClr val="1565C0"/>
          </a:solidFill>
          <a:ln w="12700">
            <a:solidFill>
              <a:srgbClr val="1565C0"/>
            </a:solidFill>
            <a:prstDash val="solid"/>
          </a:ln>
        </p:spPr>
      </p:sp>
      <p:sp>
        <p:nvSpPr>
          <p:cNvPr id="9" name="Shape 7"/>
          <p:cNvSpPr/>
          <p:nvPr/>
        </p:nvSpPr>
        <p:spPr>
          <a:xfrm>
            <a:off x="429768" y="1143000"/>
            <a:ext cx="8348472" cy="777240"/>
          </a:xfrm>
          <a:prstGeom prst="rect">
            <a:avLst/>
          </a:prstGeom>
          <a:solidFill>
            <a:srgbClr val="E3F2FD"/>
          </a:solidFill>
          <a:ln w="12700">
            <a:solidFill>
              <a:srgbClr val="E3F2FD"/>
            </a:solidFill>
            <a:prstDash val="solid"/>
          </a:ln>
        </p:spPr>
      </p:sp>
      <p:sp>
        <p:nvSpPr>
          <p:cNvPr id="10" name="Text 8"/>
          <p:cNvSpPr/>
          <p:nvPr/>
        </p:nvSpPr>
        <p:spPr>
          <a:xfrm>
            <a:off x="548640" y="1143000"/>
            <a:ext cx="8165592" cy="77724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Una métrica es simplemente un número que nos dice algo concreto y medible sobre cómo va el proyecto o qué tan bueno es el software.</a:t>
            </a:r>
            <a:endParaRPr lang="en-US" sz="1500" dirty="0"/>
          </a:p>
        </p:txBody>
      </p:sp>
      <p:sp>
        <p:nvSpPr>
          <p:cNvPr id="11" name="Shape 9"/>
          <p:cNvSpPr/>
          <p:nvPr/>
        </p:nvSpPr>
        <p:spPr>
          <a:xfrm>
            <a:off x="365760" y="2057400"/>
            <a:ext cx="8412480" cy="1417320"/>
          </a:xfrm>
          <a:prstGeom prst="rect">
            <a:avLst/>
          </a:prstGeom>
          <a:solidFill>
            <a:srgbClr val="FFF9C4"/>
          </a:solidFill>
          <a:ln w="25400">
            <a:solidFill>
              <a:srgbClr val="F9A825"/>
            </a:solidFill>
            <a:prstDash val="solid"/>
          </a:ln>
        </p:spPr>
      </p:sp>
      <p:sp>
        <p:nvSpPr>
          <p:cNvPr id="12" name="Shape 10"/>
          <p:cNvSpPr/>
          <p:nvPr/>
        </p:nvSpPr>
        <p:spPr>
          <a:xfrm>
            <a:off x="365760" y="2057400"/>
            <a:ext cx="73152" cy="1417320"/>
          </a:xfrm>
          <a:prstGeom prst="rect">
            <a:avLst/>
          </a:prstGeom>
          <a:solidFill>
            <a:srgbClr val="F9A825"/>
          </a:solidFill>
          <a:ln w="12700">
            <a:solidFill>
              <a:srgbClr val="F9A825"/>
            </a:solidFill>
            <a:prstDash val="solid"/>
          </a:ln>
        </p:spPr>
      </p:sp>
      <p:sp>
        <p:nvSpPr>
          <p:cNvPr id="13" name="Text 11"/>
          <p:cNvSpPr/>
          <p:nvPr/>
        </p:nvSpPr>
        <p:spPr>
          <a:xfrm>
            <a:off x="548640" y="2103120"/>
            <a:ext cx="1828800" cy="320040"/>
          </a:xfrm>
          <a:prstGeom prst="rect">
            <a:avLst/>
          </a:prstGeom>
          <a:noFill/>
          <a:ln/>
        </p:spPr>
        <p:txBody>
          <a:bodyPr wrap="square" rtlCol="0" anchor="ctr"/>
          <a:lstStyle/>
          <a:p>
            <a:pPr marL="0" indent="0">
              <a:buNone/>
            </a:pPr>
            <a:r>
              <a:rPr lang="en-US" sz="1300" b="1" dirty="0">
                <a:solidFill>
                  <a:srgbClr val="F9A825"/>
                </a:solidFill>
                <a:latin typeface="Calibri" pitchFamily="34" charset="0"/>
                <a:ea typeface="Calibri" pitchFamily="34" charset="-122"/>
                <a:cs typeface="Calibri" pitchFamily="34" charset="-120"/>
              </a:rPr>
              <a:t>💡 Analogía:</a:t>
            </a:r>
            <a:endParaRPr lang="en-US" sz="1300" dirty="0"/>
          </a:p>
        </p:txBody>
      </p:sp>
      <p:sp>
        <p:nvSpPr>
          <p:cNvPr id="14" name="Text 12"/>
          <p:cNvSpPr/>
          <p:nvPr/>
        </p:nvSpPr>
        <p:spPr>
          <a:xfrm>
            <a:off x="548640" y="2423160"/>
            <a:ext cx="8046720" cy="100584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El médico le toma la temperatura al paciente. Si marca 39°C, sabe que hay fiebre y actúa.</a:t>
            </a: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Nosotros hacemos lo mismo: le "tomamos la temperatura" al proyecto con métricas. Si un número está fuera de rango, sabemos que algo no va bien y actuamos.</a:t>
            </a:r>
            <a:endParaRPr lang="en-US" sz="1300" dirty="0"/>
          </a:p>
        </p:txBody>
      </p:sp>
      <p:sp>
        <p:nvSpPr>
          <p:cNvPr id="15" name="Text 13"/>
          <p:cNvSpPr/>
          <p:nvPr/>
        </p:nvSpPr>
        <p:spPr>
          <a:xfrm>
            <a:off x="365760" y="3611880"/>
            <a:ext cx="3657600" cy="320040"/>
          </a:xfrm>
          <a:prstGeom prst="rect">
            <a:avLst/>
          </a:prstGeom>
          <a:noFill/>
          <a:ln/>
        </p:spPr>
        <p:txBody>
          <a:bodyPr wrap="square" rtlCol="0" anchor="ctr"/>
          <a:lstStyle/>
          <a:p>
            <a:pPr marL="0" indent="0">
              <a:buNone/>
            </a:pPr>
            <a:r>
              <a:rPr lang="en-US" sz="1400" b="1" dirty="0">
                <a:solidFill>
                  <a:srgbClr val="1565C0"/>
                </a:solidFill>
                <a:latin typeface="Calibri" pitchFamily="34" charset="0"/>
                <a:ea typeface="Calibri" pitchFamily="34" charset="-122"/>
                <a:cs typeface="Calibri" pitchFamily="34" charset="-120"/>
              </a:rPr>
              <a:t>Las métricas nos permiten:</a:t>
            </a:r>
            <a:endParaRPr lang="en-US" sz="1400" dirty="0"/>
          </a:p>
        </p:txBody>
      </p:sp>
      <p:sp>
        <p:nvSpPr>
          <p:cNvPr id="16" name="Text 14"/>
          <p:cNvSpPr/>
          <p:nvPr/>
        </p:nvSpPr>
        <p:spPr>
          <a:xfrm>
            <a:off x="457200" y="3977640"/>
            <a:ext cx="8321040" cy="777240"/>
          </a:xfrm>
          <a:prstGeom prst="rect">
            <a:avLst/>
          </a:prstGeom>
          <a:noFill/>
          <a:ln/>
        </p:spPr>
        <p:txBody>
          <a:bodyPr wrap="square" rtlCol="0" anchor="ctr"/>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Detectar problemas antes de que sea demasiado tarde</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Tomar decisiones con datos concretos, no solo con intuición</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Ver si el equipo está mejorando de un sprint al siguiente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Dos tipos de métricas que vamos a usar</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274320" y="1097280"/>
            <a:ext cx="4206240" cy="3749040"/>
          </a:xfrm>
          <a:prstGeom prst="rect">
            <a:avLst/>
          </a:prstGeom>
          <a:solidFill>
            <a:srgbClr val="FFFFFF"/>
          </a:solidFill>
          <a:ln w="25400">
            <a:solidFill>
              <a:srgbClr val="1565C0"/>
            </a:solidFill>
            <a:prstDash val="solid"/>
          </a:ln>
        </p:spPr>
      </p:sp>
      <p:sp>
        <p:nvSpPr>
          <p:cNvPr id="9" name="Shape 7"/>
          <p:cNvSpPr/>
          <p:nvPr/>
        </p:nvSpPr>
        <p:spPr>
          <a:xfrm>
            <a:off x="274320" y="1097280"/>
            <a:ext cx="4206240" cy="411480"/>
          </a:xfrm>
          <a:prstGeom prst="rect">
            <a:avLst/>
          </a:prstGeom>
          <a:solidFill>
            <a:srgbClr val="1565C0"/>
          </a:solidFill>
          <a:ln w="12700">
            <a:solidFill>
              <a:srgbClr val="1565C0"/>
            </a:solidFill>
            <a:prstDash val="solid"/>
          </a:ln>
        </p:spPr>
      </p:sp>
      <p:sp>
        <p:nvSpPr>
          <p:cNvPr id="10" name="Text 8"/>
          <p:cNvSpPr/>
          <p:nvPr/>
        </p:nvSpPr>
        <p:spPr>
          <a:xfrm>
            <a:off x="384048" y="1115568"/>
            <a:ext cx="393192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Métricas de PROCESO</a:t>
            </a:r>
            <a:endParaRPr lang="en-US" sz="1400" dirty="0"/>
          </a:p>
        </p:txBody>
      </p:sp>
      <p:sp>
        <p:nvSpPr>
          <p:cNvPr id="11" name="Text 9"/>
          <p:cNvSpPr/>
          <p:nvPr/>
        </p:nvSpPr>
        <p:spPr>
          <a:xfrm>
            <a:off x="411480" y="1572768"/>
            <a:ext cx="3931920" cy="91440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Miden cómo está trabajando el equipo.</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¿Están siendo productivos? ¿Están encontrando los errores antes de entregar?</a:t>
            </a:r>
            <a:endParaRPr lang="en-US" sz="1200" dirty="0"/>
          </a:p>
        </p:txBody>
      </p:sp>
      <p:sp>
        <p:nvSpPr>
          <p:cNvPr id="12" name="Text 10"/>
          <p:cNvSpPr/>
          <p:nvPr/>
        </p:nvSpPr>
        <p:spPr>
          <a:xfrm>
            <a:off x="411480" y="2560320"/>
            <a:ext cx="1828800" cy="274320"/>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Ejemplos:</a:t>
            </a:r>
            <a:endParaRPr lang="en-US" sz="1100" dirty="0"/>
          </a:p>
        </p:txBody>
      </p:sp>
      <p:sp>
        <p:nvSpPr>
          <p:cNvPr id="13" name="Text 11"/>
          <p:cNvSpPr/>
          <p:nvPr/>
        </p:nvSpPr>
        <p:spPr>
          <a:xfrm>
            <a:off x="411480" y="2880360"/>
            <a:ext cx="3931920" cy="182880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Productividad — ¿cuánto código producen por hora?</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DRE (Detection Rate Effectiveness) — ¿qué tan bien detectan errores en pruebas?</a:t>
            </a:r>
            <a:endParaRPr lang="en-US" sz="1100" dirty="0"/>
          </a:p>
        </p:txBody>
      </p:sp>
      <p:sp>
        <p:nvSpPr>
          <p:cNvPr id="14" name="Shape 12"/>
          <p:cNvSpPr/>
          <p:nvPr/>
        </p:nvSpPr>
        <p:spPr>
          <a:xfrm>
            <a:off x="4754880" y="1097280"/>
            <a:ext cx="4206240" cy="3749040"/>
          </a:xfrm>
          <a:prstGeom prst="rect">
            <a:avLst/>
          </a:prstGeom>
          <a:solidFill>
            <a:srgbClr val="FFFFFF"/>
          </a:solidFill>
          <a:ln w="25400">
            <a:solidFill>
              <a:srgbClr val="2E7D32"/>
            </a:solidFill>
            <a:prstDash val="solid"/>
          </a:ln>
        </p:spPr>
      </p:sp>
      <p:sp>
        <p:nvSpPr>
          <p:cNvPr id="15" name="Shape 13"/>
          <p:cNvSpPr/>
          <p:nvPr/>
        </p:nvSpPr>
        <p:spPr>
          <a:xfrm>
            <a:off x="4754880" y="1097280"/>
            <a:ext cx="4206240" cy="411480"/>
          </a:xfrm>
          <a:prstGeom prst="rect">
            <a:avLst/>
          </a:prstGeom>
          <a:solidFill>
            <a:srgbClr val="2E7D32"/>
          </a:solidFill>
          <a:ln w="12700">
            <a:solidFill>
              <a:srgbClr val="2E7D32"/>
            </a:solidFill>
            <a:prstDash val="solid"/>
          </a:ln>
        </p:spPr>
      </p:sp>
      <p:sp>
        <p:nvSpPr>
          <p:cNvPr id="16" name="Text 14"/>
          <p:cNvSpPr/>
          <p:nvPr/>
        </p:nvSpPr>
        <p:spPr>
          <a:xfrm>
            <a:off x="4864608" y="1115568"/>
            <a:ext cx="393192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Métricas de PRODUCTO</a:t>
            </a:r>
            <a:endParaRPr lang="en-US" sz="1400" dirty="0"/>
          </a:p>
        </p:txBody>
      </p:sp>
      <p:sp>
        <p:nvSpPr>
          <p:cNvPr id="17" name="Text 15"/>
          <p:cNvSpPr/>
          <p:nvPr/>
        </p:nvSpPr>
        <p:spPr>
          <a:xfrm>
            <a:off x="4892040" y="1572768"/>
            <a:ext cx="3931920" cy="91440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Miden qué tan bueno es el software que están construyendo.</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¿Tiene muchos errores? ¿Qué tan seguido falla?</a:t>
            </a:r>
            <a:endParaRPr lang="en-US" sz="1200" dirty="0"/>
          </a:p>
        </p:txBody>
      </p:sp>
      <p:sp>
        <p:nvSpPr>
          <p:cNvPr id="18" name="Text 16"/>
          <p:cNvSpPr/>
          <p:nvPr/>
        </p:nvSpPr>
        <p:spPr>
          <a:xfrm>
            <a:off x="4892040" y="2560320"/>
            <a:ext cx="1828800"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Ejemplos:</a:t>
            </a:r>
            <a:endParaRPr lang="en-US" sz="1100" dirty="0"/>
          </a:p>
        </p:txBody>
      </p:sp>
      <p:sp>
        <p:nvSpPr>
          <p:cNvPr id="19" name="Text 17"/>
          <p:cNvSpPr/>
          <p:nvPr/>
        </p:nvSpPr>
        <p:spPr>
          <a:xfrm>
            <a:off x="4892040" y="2880360"/>
            <a:ext cx="3931920" cy="182880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Densidad de defectos — ¿cuántos errores tiene el código?</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Fiabilidad — ¿qué tan seguido falla el sistema?</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Cobertura — ¿qué porcentaje del sistema fue probado?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Las 5 métricas que vamos a calcular hoy</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Resumen rápido antes de ver cada una en detalle</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9" name="Shape 7"/>
          <p:cNvSpPr/>
          <p:nvPr/>
        </p:nvSpPr>
        <p:spPr>
          <a:xfrm>
            <a:off x="1325880" y="1051560"/>
            <a:ext cx="1737360" cy="347472"/>
          </a:xfrm>
          <a:prstGeom prst="rect">
            <a:avLst/>
          </a:prstGeom>
          <a:solidFill>
            <a:srgbClr val="1565C0"/>
          </a:solidFill>
          <a:ln w="12700">
            <a:solidFill>
              <a:srgbClr val="1565C0"/>
            </a:solidFill>
            <a:prstDash val="solid"/>
          </a:ln>
        </p:spPr>
      </p:sp>
      <p:sp>
        <p:nvSpPr>
          <p:cNvPr id="10" name="Text 8"/>
          <p:cNvSpPr/>
          <p:nvPr/>
        </p:nvSpPr>
        <p:spPr>
          <a:xfrm>
            <a:off x="1371600" y="1051560"/>
            <a:ext cx="164592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Métrica</a:t>
            </a:r>
            <a:endParaRPr lang="en-US" sz="1200" dirty="0"/>
          </a:p>
        </p:txBody>
      </p:sp>
      <p:sp>
        <p:nvSpPr>
          <p:cNvPr id="11" name="Shape 9"/>
          <p:cNvSpPr/>
          <p:nvPr/>
        </p:nvSpPr>
        <p:spPr>
          <a:xfrm>
            <a:off x="3108960" y="1051560"/>
            <a:ext cx="3931920" cy="347472"/>
          </a:xfrm>
          <a:prstGeom prst="rect">
            <a:avLst/>
          </a:prstGeom>
          <a:solidFill>
            <a:srgbClr val="1565C0"/>
          </a:solidFill>
          <a:ln w="12700">
            <a:solidFill>
              <a:srgbClr val="1565C0"/>
            </a:solidFill>
            <a:prstDash val="solid"/>
          </a:ln>
        </p:spPr>
      </p:sp>
      <p:sp>
        <p:nvSpPr>
          <p:cNvPr id="12" name="Text 10"/>
          <p:cNvSpPr/>
          <p:nvPr/>
        </p:nvSpPr>
        <p:spPr>
          <a:xfrm>
            <a:off x="3154680" y="1051560"/>
            <a:ext cx="38404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Qué mide / Fórmula resumida</a:t>
            </a:r>
            <a:endParaRPr lang="en-US" sz="1200" dirty="0"/>
          </a:p>
        </p:txBody>
      </p:sp>
      <p:sp>
        <p:nvSpPr>
          <p:cNvPr id="13" name="Shape 11"/>
          <p:cNvSpPr/>
          <p:nvPr/>
        </p:nvSpPr>
        <p:spPr>
          <a:xfrm>
            <a:off x="7086600" y="1051560"/>
            <a:ext cx="2103120" cy="347472"/>
          </a:xfrm>
          <a:prstGeom prst="rect">
            <a:avLst/>
          </a:prstGeom>
          <a:solidFill>
            <a:srgbClr val="1565C0"/>
          </a:solidFill>
          <a:ln w="12700">
            <a:solidFill>
              <a:srgbClr val="1565C0"/>
            </a:solidFill>
            <a:prstDash val="solid"/>
          </a:ln>
        </p:spPr>
      </p:sp>
      <p:sp>
        <p:nvSpPr>
          <p:cNvPr id="14" name="Text 12"/>
          <p:cNvSpPr/>
          <p:nvPr/>
        </p:nvSpPr>
        <p:spPr>
          <a:xfrm>
            <a:off x="7132320" y="1051560"/>
            <a:ext cx="20116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Ejemplo</a:t>
            </a:r>
            <a:endParaRPr lang="en-US" sz="1200" dirty="0"/>
          </a:p>
        </p:txBody>
      </p:sp>
      <p:sp>
        <p:nvSpPr>
          <p:cNvPr id="15" name="Shape 13"/>
          <p:cNvSpPr/>
          <p:nvPr/>
        </p:nvSpPr>
        <p:spPr>
          <a:xfrm>
            <a:off x="274320" y="1444752"/>
            <a:ext cx="1005840" cy="603504"/>
          </a:xfrm>
          <a:prstGeom prst="rect">
            <a:avLst/>
          </a:prstGeom>
          <a:solidFill>
            <a:srgbClr val="E3F2FD"/>
          </a:solidFill>
          <a:ln w="12700">
            <a:solidFill>
              <a:srgbClr val="DDDDDD"/>
            </a:solidFill>
            <a:prstDash val="solid"/>
          </a:ln>
        </p:spPr>
      </p:sp>
      <p:sp>
        <p:nvSpPr>
          <p:cNvPr id="16" name="Text 14"/>
          <p:cNvSpPr/>
          <p:nvPr/>
        </p:nvSpPr>
        <p:spPr>
          <a:xfrm>
            <a:off x="329184" y="1444752"/>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1325880" y="1444752"/>
            <a:ext cx="1737360" cy="603504"/>
          </a:xfrm>
          <a:prstGeom prst="rect">
            <a:avLst/>
          </a:prstGeom>
          <a:solidFill>
            <a:srgbClr val="E3F2FD"/>
          </a:solidFill>
          <a:ln w="12700">
            <a:solidFill>
              <a:srgbClr val="DDDDDD"/>
            </a:solidFill>
            <a:prstDash val="solid"/>
          </a:ln>
        </p:spPr>
      </p:sp>
      <p:sp>
        <p:nvSpPr>
          <p:cNvPr id="18" name="Text 16"/>
          <p:cNvSpPr/>
          <p:nvPr/>
        </p:nvSpPr>
        <p:spPr>
          <a:xfrm>
            <a:off x="1380744" y="1444752"/>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Productividad</a:t>
            </a:r>
            <a:endParaRPr lang="en-US" sz="1100" dirty="0"/>
          </a:p>
        </p:txBody>
      </p:sp>
      <p:sp>
        <p:nvSpPr>
          <p:cNvPr id="19" name="Shape 17"/>
          <p:cNvSpPr/>
          <p:nvPr/>
        </p:nvSpPr>
        <p:spPr>
          <a:xfrm>
            <a:off x="3108960" y="1444752"/>
            <a:ext cx="3931920" cy="603504"/>
          </a:xfrm>
          <a:prstGeom prst="rect">
            <a:avLst/>
          </a:prstGeom>
          <a:solidFill>
            <a:srgbClr val="E3F2FD"/>
          </a:solidFill>
          <a:ln w="12700">
            <a:solidFill>
              <a:srgbClr val="DDDDDD"/>
            </a:solidFill>
            <a:prstDash val="solid"/>
          </a:ln>
        </p:spPr>
      </p:sp>
      <p:sp>
        <p:nvSpPr>
          <p:cNvPr id="20" name="Text 18"/>
          <p:cNvSpPr/>
          <p:nvPr/>
        </p:nvSpPr>
        <p:spPr>
          <a:xfrm>
            <a:off x="3163824" y="1444752"/>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Líneas de código escritas ÷ Horas trabajadas</a:t>
            </a:r>
            <a:endParaRPr lang="en-US" sz="1100" dirty="0"/>
          </a:p>
        </p:txBody>
      </p:sp>
      <p:sp>
        <p:nvSpPr>
          <p:cNvPr id="21" name="Shape 19"/>
          <p:cNvSpPr/>
          <p:nvPr/>
        </p:nvSpPr>
        <p:spPr>
          <a:xfrm>
            <a:off x="7086600" y="1444752"/>
            <a:ext cx="2103120" cy="603504"/>
          </a:xfrm>
          <a:prstGeom prst="rect">
            <a:avLst/>
          </a:prstGeom>
          <a:solidFill>
            <a:srgbClr val="E3F2FD"/>
          </a:solidFill>
          <a:ln w="12700">
            <a:solidFill>
              <a:srgbClr val="DDDDDD"/>
            </a:solidFill>
            <a:prstDash val="solid"/>
          </a:ln>
        </p:spPr>
      </p:sp>
      <p:sp>
        <p:nvSpPr>
          <p:cNvPr id="22" name="Text 20"/>
          <p:cNvSpPr/>
          <p:nvPr/>
        </p:nvSpPr>
        <p:spPr>
          <a:xfrm>
            <a:off x="7141464" y="1444752"/>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20 líneas/hora</a:t>
            </a:r>
            <a:endParaRPr lang="en-US" sz="1100" dirty="0"/>
          </a:p>
        </p:txBody>
      </p:sp>
      <p:sp>
        <p:nvSpPr>
          <p:cNvPr id="23" name="Shape 21"/>
          <p:cNvSpPr/>
          <p:nvPr/>
        </p:nvSpPr>
        <p:spPr>
          <a:xfrm>
            <a:off x="274320" y="2103120"/>
            <a:ext cx="1005840" cy="603504"/>
          </a:xfrm>
          <a:prstGeom prst="rect">
            <a:avLst/>
          </a:prstGeom>
          <a:solidFill>
            <a:srgbClr val="FFFFFF"/>
          </a:solidFill>
          <a:ln w="12700">
            <a:solidFill>
              <a:srgbClr val="DDDDDD"/>
            </a:solidFill>
            <a:prstDash val="solid"/>
          </a:ln>
        </p:spPr>
      </p:sp>
      <p:sp>
        <p:nvSpPr>
          <p:cNvPr id="24" name="Text 22"/>
          <p:cNvSpPr/>
          <p:nvPr/>
        </p:nvSpPr>
        <p:spPr>
          <a:xfrm>
            <a:off x="329184" y="2103120"/>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1325880" y="2103120"/>
            <a:ext cx="1737360" cy="603504"/>
          </a:xfrm>
          <a:prstGeom prst="rect">
            <a:avLst/>
          </a:prstGeom>
          <a:solidFill>
            <a:srgbClr val="FFFFFF"/>
          </a:solidFill>
          <a:ln w="12700">
            <a:solidFill>
              <a:srgbClr val="DDDDDD"/>
            </a:solidFill>
            <a:prstDash val="solid"/>
          </a:ln>
        </p:spPr>
      </p:sp>
      <p:sp>
        <p:nvSpPr>
          <p:cNvPr id="26" name="Text 24"/>
          <p:cNvSpPr/>
          <p:nvPr/>
        </p:nvSpPr>
        <p:spPr>
          <a:xfrm>
            <a:off x="1380744" y="2103120"/>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Densidad de defectos</a:t>
            </a:r>
            <a:endParaRPr lang="en-US" sz="1100" dirty="0"/>
          </a:p>
        </p:txBody>
      </p:sp>
      <p:sp>
        <p:nvSpPr>
          <p:cNvPr id="27" name="Shape 25"/>
          <p:cNvSpPr/>
          <p:nvPr/>
        </p:nvSpPr>
        <p:spPr>
          <a:xfrm>
            <a:off x="3108960" y="2103120"/>
            <a:ext cx="3931920" cy="603504"/>
          </a:xfrm>
          <a:prstGeom prst="rect">
            <a:avLst/>
          </a:prstGeom>
          <a:solidFill>
            <a:srgbClr val="FFFFFF"/>
          </a:solidFill>
          <a:ln w="12700">
            <a:solidFill>
              <a:srgbClr val="DDDDDD"/>
            </a:solidFill>
            <a:prstDash val="solid"/>
          </a:ln>
        </p:spPr>
      </p:sp>
      <p:sp>
        <p:nvSpPr>
          <p:cNvPr id="28" name="Text 26"/>
          <p:cNvSpPr/>
          <p:nvPr/>
        </p:nvSpPr>
        <p:spPr>
          <a:xfrm>
            <a:off x="3163824" y="2103120"/>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Total de errores ÷ (Líneas de código ÷ 1,000)</a:t>
            </a:r>
            <a:endParaRPr lang="en-US" sz="1100" dirty="0"/>
          </a:p>
        </p:txBody>
      </p:sp>
      <p:sp>
        <p:nvSpPr>
          <p:cNvPr id="29" name="Shape 27"/>
          <p:cNvSpPr/>
          <p:nvPr/>
        </p:nvSpPr>
        <p:spPr>
          <a:xfrm>
            <a:off x="7086600" y="2103120"/>
            <a:ext cx="2103120" cy="603504"/>
          </a:xfrm>
          <a:prstGeom prst="rect">
            <a:avLst/>
          </a:prstGeom>
          <a:solidFill>
            <a:srgbClr val="FFFFFF"/>
          </a:solidFill>
          <a:ln w="12700">
            <a:solidFill>
              <a:srgbClr val="DDDDDD"/>
            </a:solidFill>
            <a:prstDash val="solid"/>
          </a:ln>
        </p:spPr>
      </p:sp>
      <p:sp>
        <p:nvSpPr>
          <p:cNvPr id="30" name="Text 28"/>
          <p:cNvSpPr/>
          <p:nvPr/>
        </p:nvSpPr>
        <p:spPr>
          <a:xfrm>
            <a:off x="7141464" y="2103120"/>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4.7 errores por KLOC (miles de líneas)</a:t>
            </a:r>
            <a:endParaRPr lang="en-US" sz="1100" dirty="0"/>
          </a:p>
        </p:txBody>
      </p:sp>
      <p:sp>
        <p:nvSpPr>
          <p:cNvPr id="31" name="Shape 29"/>
          <p:cNvSpPr/>
          <p:nvPr/>
        </p:nvSpPr>
        <p:spPr>
          <a:xfrm>
            <a:off x="274320" y="2761488"/>
            <a:ext cx="1005840" cy="603504"/>
          </a:xfrm>
          <a:prstGeom prst="rect">
            <a:avLst/>
          </a:prstGeom>
          <a:solidFill>
            <a:srgbClr val="E3F2FD"/>
          </a:solidFill>
          <a:ln w="12700">
            <a:solidFill>
              <a:srgbClr val="DDDDDD"/>
            </a:solidFill>
            <a:prstDash val="solid"/>
          </a:ln>
        </p:spPr>
      </p:sp>
      <p:sp>
        <p:nvSpPr>
          <p:cNvPr id="32" name="Text 30"/>
          <p:cNvSpPr/>
          <p:nvPr/>
        </p:nvSpPr>
        <p:spPr>
          <a:xfrm>
            <a:off x="329184" y="2761488"/>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33" name="Shape 31"/>
          <p:cNvSpPr/>
          <p:nvPr/>
        </p:nvSpPr>
        <p:spPr>
          <a:xfrm>
            <a:off x="1325880" y="2761488"/>
            <a:ext cx="1737360" cy="603504"/>
          </a:xfrm>
          <a:prstGeom prst="rect">
            <a:avLst/>
          </a:prstGeom>
          <a:solidFill>
            <a:srgbClr val="E3F2FD"/>
          </a:solidFill>
          <a:ln w="12700">
            <a:solidFill>
              <a:srgbClr val="DDDDDD"/>
            </a:solidFill>
            <a:prstDash val="solid"/>
          </a:ln>
        </p:spPr>
      </p:sp>
      <p:sp>
        <p:nvSpPr>
          <p:cNvPr id="34" name="Text 32"/>
          <p:cNvSpPr/>
          <p:nvPr/>
        </p:nvSpPr>
        <p:spPr>
          <a:xfrm>
            <a:off x="1380744" y="2761488"/>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DRE — Eficiencia de Detección</a:t>
            </a:r>
            <a:endParaRPr lang="en-US" sz="1100" dirty="0"/>
          </a:p>
        </p:txBody>
      </p:sp>
      <p:sp>
        <p:nvSpPr>
          <p:cNvPr id="35" name="Shape 33"/>
          <p:cNvSpPr/>
          <p:nvPr/>
        </p:nvSpPr>
        <p:spPr>
          <a:xfrm>
            <a:off x="3108960" y="2761488"/>
            <a:ext cx="3931920" cy="603504"/>
          </a:xfrm>
          <a:prstGeom prst="rect">
            <a:avLst/>
          </a:prstGeom>
          <a:solidFill>
            <a:srgbClr val="E3F2FD"/>
          </a:solidFill>
          <a:ln w="12700">
            <a:solidFill>
              <a:srgbClr val="DDDDDD"/>
            </a:solidFill>
            <a:prstDash val="solid"/>
          </a:ln>
        </p:spPr>
      </p:sp>
      <p:sp>
        <p:nvSpPr>
          <p:cNvPr id="36" name="Text 34"/>
          <p:cNvSpPr/>
          <p:nvPr/>
        </p:nvSpPr>
        <p:spPr>
          <a:xfrm>
            <a:off x="3163824" y="2761488"/>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Errores encontrados en pruebas ÷ Total de errores × 100</a:t>
            </a:r>
            <a:endParaRPr lang="en-US" sz="1100" dirty="0"/>
          </a:p>
        </p:txBody>
      </p:sp>
      <p:sp>
        <p:nvSpPr>
          <p:cNvPr id="37" name="Shape 35"/>
          <p:cNvSpPr/>
          <p:nvPr/>
        </p:nvSpPr>
        <p:spPr>
          <a:xfrm>
            <a:off x="7086600" y="2761488"/>
            <a:ext cx="2103120" cy="603504"/>
          </a:xfrm>
          <a:prstGeom prst="rect">
            <a:avLst/>
          </a:prstGeom>
          <a:solidFill>
            <a:srgbClr val="E3F2FD"/>
          </a:solidFill>
          <a:ln w="12700">
            <a:solidFill>
              <a:srgbClr val="DDDDDD"/>
            </a:solidFill>
            <a:prstDash val="solid"/>
          </a:ln>
        </p:spPr>
      </p:sp>
      <p:sp>
        <p:nvSpPr>
          <p:cNvPr id="38" name="Text 36"/>
          <p:cNvSpPr/>
          <p:nvPr/>
        </p:nvSpPr>
        <p:spPr>
          <a:xfrm>
            <a:off x="7141464" y="2761488"/>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86%</a:t>
            </a:r>
            <a:endParaRPr lang="en-US" sz="1100" dirty="0"/>
          </a:p>
        </p:txBody>
      </p:sp>
      <p:sp>
        <p:nvSpPr>
          <p:cNvPr id="39" name="Shape 37"/>
          <p:cNvSpPr/>
          <p:nvPr/>
        </p:nvSpPr>
        <p:spPr>
          <a:xfrm>
            <a:off x="274320" y="3419856"/>
            <a:ext cx="1005840" cy="603504"/>
          </a:xfrm>
          <a:prstGeom prst="rect">
            <a:avLst/>
          </a:prstGeom>
          <a:solidFill>
            <a:srgbClr val="FFFFFF"/>
          </a:solidFill>
          <a:ln w="12700">
            <a:solidFill>
              <a:srgbClr val="DDDDDD"/>
            </a:solidFill>
            <a:prstDash val="solid"/>
          </a:ln>
        </p:spPr>
      </p:sp>
      <p:sp>
        <p:nvSpPr>
          <p:cNvPr id="40" name="Text 38"/>
          <p:cNvSpPr/>
          <p:nvPr/>
        </p:nvSpPr>
        <p:spPr>
          <a:xfrm>
            <a:off x="329184" y="3419856"/>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41" name="Shape 39"/>
          <p:cNvSpPr/>
          <p:nvPr/>
        </p:nvSpPr>
        <p:spPr>
          <a:xfrm>
            <a:off x="1325880" y="3419856"/>
            <a:ext cx="1737360" cy="603504"/>
          </a:xfrm>
          <a:prstGeom prst="rect">
            <a:avLst/>
          </a:prstGeom>
          <a:solidFill>
            <a:srgbClr val="FFFFFF"/>
          </a:solidFill>
          <a:ln w="12700">
            <a:solidFill>
              <a:srgbClr val="DDDDDD"/>
            </a:solidFill>
            <a:prstDash val="solid"/>
          </a:ln>
        </p:spPr>
      </p:sp>
      <p:sp>
        <p:nvSpPr>
          <p:cNvPr id="42" name="Text 40"/>
          <p:cNvSpPr/>
          <p:nvPr/>
        </p:nvSpPr>
        <p:spPr>
          <a:xfrm>
            <a:off x="1380744" y="3419856"/>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Cobertura de pruebas</a:t>
            </a:r>
            <a:endParaRPr lang="en-US" sz="1100" dirty="0"/>
          </a:p>
        </p:txBody>
      </p:sp>
      <p:sp>
        <p:nvSpPr>
          <p:cNvPr id="43" name="Shape 41"/>
          <p:cNvSpPr/>
          <p:nvPr/>
        </p:nvSpPr>
        <p:spPr>
          <a:xfrm>
            <a:off x="3108960" y="3419856"/>
            <a:ext cx="3931920" cy="603504"/>
          </a:xfrm>
          <a:prstGeom prst="rect">
            <a:avLst/>
          </a:prstGeom>
          <a:solidFill>
            <a:srgbClr val="FFFFFF"/>
          </a:solidFill>
          <a:ln w="12700">
            <a:solidFill>
              <a:srgbClr val="DDDDDD"/>
            </a:solidFill>
            <a:prstDash val="solid"/>
          </a:ln>
        </p:spPr>
      </p:sp>
      <p:sp>
        <p:nvSpPr>
          <p:cNvPr id="44" name="Text 42"/>
          <p:cNvSpPr/>
          <p:nvPr/>
        </p:nvSpPr>
        <p:spPr>
          <a:xfrm>
            <a:off x="3163824" y="3419856"/>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Pruebas que se ejecutaron ÷ Pruebas que se planearon × 100</a:t>
            </a:r>
            <a:endParaRPr lang="en-US" sz="1100" dirty="0"/>
          </a:p>
        </p:txBody>
      </p:sp>
      <p:sp>
        <p:nvSpPr>
          <p:cNvPr id="45" name="Shape 43"/>
          <p:cNvSpPr/>
          <p:nvPr/>
        </p:nvSpPr>
        <p:spPr>
          <a:xfrm>
            <a:off x="7086600" y="3419856"/>
            <a:ext cx="2103120" cy="603504"/>
          </a:xfrm>
          <a:prstGeom prst="rect">
            <a:avLst/>
          </a:prstGeom>
          <a:solidFill>
            <a:srgbClr val="FFFFFF"/>
          </a:solidFill>
          <a:ln w="12700">
            <a:solidFill>
              <a:srgbClr val="DDDDDD"/>
            </a:solidFill>
            <a:prstDash val="solid"/>
          </a:ln>
        </p:spPr>
      </p:sp>
      <p:sp>
        <p:nvSpPr>
          <p:cNvPr id="46" name="Text 44"/>
          <p:cNvSpPr/>
          <p:nvPr/>
        </p:nvSpPr>
        <p:spPr>
          <a:xfrm>
            <a:off x="7141464" y="3419856"/>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90%</a:t>
            </a:r>
            <a:endParaRPr lang="en-US" sz="1100" dirty="0"/>
          </a:p>
        </p:txBody>
      </p:sp>
      <p:sp>
        <p:nvSpPr>
          <p:cNvPr id="47" name="Shape 45"/>
          <p:cNvSpPr/>
          <p:nvPr/>
        </p:nvSpPr>
        <p:spPr>
          <a:xfrm>
            <a:off x="274320" y="4078224"/>
            <a:ext cx="1005840" cy="603504"/>
          </a:xfrm>
          <a:prstGeom prst="rect">
            <a:avLst/>
          </a:prstGeom>
          <a:solidFill>
            <a:srgbClr val="E3F2FD"/>
          </a:solidFill>
          <a:ln w="12700">
            <a:solidFill>
              <a:srgbClr val="DDDDDD"/>
            </a:solidFill>
            <a:prstDash val="solid"/>
          </a:ln>
        </p:spPr>
      </p:sp>
      <p:sp>
        <p:nvSpPr>
          <p:cNvPr id="48" name="Text 46"/>
          <p:cNvSpPr/>
          <p:nvPr/>
        </p:nvSpPr>
        <p:spPr>
          <a:xfrm>
            <a:off x="329184" y="4078224"/>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49" name="Shape 47"/>
          <p:cNvSpPr/>
          <p:nvPr/>
        </p:nvSpPr>
        <p:spPr>
          <a:xfrm>
            <a:off x="1325880" y="4078224"/>
            <a:ext cx="1737360" cy="603504"/>
          </a:xfrm>
          <a:prstGeom prst="rect">
            <a:avLst/>
          </a:prstGeom>
          <a:solidFill>
            <a:srgbClr val="E3F2FD"/>
          </a:solidFill>
          <a:ln w="12700">
            <a:solidFill>
              <a:srgbClr val="DDDDDD"/>
            </a:solidFill>
            <a:prstDash val="solid"/>
          </a:ln>
        </p:spPr>
      </p:sp>
      <p:sp>
        <p:nvSpPr>
          <p:cNvPr id="50" name="Text 48"/>
          <p:cNvSpPr/>
          <p:nvPr/>
        </p:nvSpPr>
        <p:spPr>
          <a:xfrm>
            <a:off x="1380744" y="4078224"/>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Fiabilidad</a:t>
            </a:r>
            <a:endParaRPr lang="en-US" sz="1100" dirty="0"/>
          </a:p>
        </p:txBody>
      </p:sp>
      <p:sp>
        <p:nvSpPr>
          <p:cNvPr id="51" name="Shape 49"/>
          <p:cNvSpPr/>
          <p:nvPr/>
        </p:nvSpPr>
        <p:spPr>
          <a:xfrm>
            <a:off x="3108960" y="4078224"/>
            <a:ext cx="3931920" cy="603504"/>
          </a:xfrm>
          <a:prstGeom prst="rect">
            <a:avLst/>
          </a:prstGeom>
          <a:solidFill>
            <a:srgbClr val="E3F2FD"/>
          </a:solidFill>
          <a:ln w="12700">
            <a:solidFill>
              <a:srgbClr val="DDDDDD"/>
            </a:solidFill>
            <a:prstDash val="solid"/>
          </a:ln>
        </p:spPr>
      </p:sp>
      <p:sp>
        <p:nvSpPr>
          <p:cNvPr id="52" name="Text 50"/>
          <p:cNvSpPr/>
          <p:nvPr/>
        </p:nvSpPr>
        <p:spPr>
          <a:xfrm>
            <a:off x="3163824" y="4078224"/>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Horas que funciona bien ÷ (Horas que funciona bien + Horas de reparación)</a:t>
            </a:r>
            <a:endParaRPr lang="en-US" sz="1100" dirty="0"/>
          </a:p>
        </p:txBody>
      </p:sp>
      <p:sp>
        <p:nvSpPr>
          <p:cNvPr id="53" name="Shape 51"/>
          <p:cNvSpPr/>
          <p:nvPr/>
        </p:nvSpPr>
        <p:spPr>
          <a:xfrm>
            <a:off x="7086600" y="4078224"/>
            <a:ext cx="2103120" cy="603504"/>
          </a:xfrm>
          <a:prstGeom prst="rect">
            <a:avLst/>
          </a:prstGeom>
          <a:solidFill>
            <a:srgbClr val="E3F2FD"/>
          </a:solidFill>
          <a:ln w="12700">
            <a:solidFill>
              <a:srgbClr val="DDDDDD"/>
            </a:solidFill>
            <a:prstDash val="solid"/>
          </a:ln>
        </p:spPr>
      </p:sp>
      <p:sp>
        <p:nvSpPr>
          <p:cNvPr id="54" name="Text 52"/>
          <p:cNvSpPr/>
          <p:nvPr/>
        </p:nvSpPr>
        <p:spPr>
          <a:xfrm>
            <a:off x="7141464" y="4078224"/>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0.986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1 — Productividad</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¿Cuánto código produce el equipo por cada hora de trabajo?</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9" name="Shape 7"/>
          <p:cNvSpPr/>
          <p:nvPr/>
        </p:nvSpPr>
        <p:spPr>
          <a:xfrm>
            <a:off x="365760" y="1143000"/>
            <a:ext cx="64008" cy="658368"/>
          </a:xfrm>
          <a:prstGeom prst="rect">
            <a:avLst/>
          </a:prstGeom>
          <a:solidFill>
            <a:srgbClr val="1565C0"/>
          </a:solidFill>
          <a:ln w="12700">
            <a:solidFill>
              <a:srgbClr val="1565C0"/>
            </a:solidFill>
            <a:prstDash val="solid"/>
          </a:ln>
        </p:spPr>
      </p:sp>
      <p:sp>
        <p:nvSpPr>
          <p:cNvPr id="10" name="Shape 8"/>
          <p:cNvSpPr/>
          <p:nvPr/>
        </p:nvSpPr>
        <p:spPr>
          <a:xfrm>
            <a:off x="429768" y="1143000"/>
            <a:ext cx="8348472" cy="658368"/>
          </a:xfrm>
          <a:prstGeom prst="rect">
            <a:avLst/>
          </a:prstGeom>
          <a:solidFill>
            <a:srgbClr val="E3F2FD"/>
          </a:solidFill>
          <a:ln w="12700">
            <a:solidFill>
              <a:srgbClr val="E3F2FD"/>
            </a:solidFill>
            <a:prstDash val="solid"/>
          </a:ln>
        </p:spPr>
      </p:sp>
      <p:sp>
        <p:nvSpPr>
          <p:cNvPr id="11" name="Text 9"/>
          <p:cNvSpPr/>
          <p:nvPr/>
        </p:nvSpPr>
        <p:spPr>
          <a:xfrm>
            <a:off x="548640" y="1143000"/>
            <a:ext cx="8165592"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La productividad nos dice qué tan eficiente es el equipo. No mide si el código es bueno o malo — solo cuánto producen. Si un sprint la productividad baja mucho, puede indicar que hubo muchos obstáculos o que el trabajo fue más difícil de lo esperado.</a:t>
            </a:r>
            <a:endParaRPr lang="en-US" sz="1300" dirty="0"/>
          </a:p>
        </p:txBody>
      </p:sp>
      <p:sp>
        <p:nvSpPr>
          <p:cNvPr id="12" name="Shape 10"/>
          <p:cNvSpPr/>
          <p:nvPr/>
        </p:nvSpPr>
        <p:spPr>
          <a:xfrm>
            <a:off x="1371600" y="1965960"/>
            <a:ext cx="6400800" cy="749808"/>
          </a:xfrm>
          <a:prstGeom prst="rect">
            <a:avLst/>
          </a:prstGeom>
          <a:solidFill>
            <a:srgbClr val="1565C0"/>
          </a:solidFill>
          <a:ln w="12700">
            <a:solidFill>
              <a:srgbClr val="1565C0"/>
            </a:solidFill>
            <a:prstDash val="solid"/>
          </a:ln>
          <a:effectLst>
            <a:outerShdw blurRad="76200" dist="25400" dir="8100000" algn="bl" rotWithShape="0">
              <a:srgbClr val="000000">
                <a:alpha val="15000"/>
              </a:srgbClr>
            </a:outerShdw>
          </a:effectLst>
        </p:spPr>
      </p:sp>
      <p:sp>
        <p:nvSpPr>
          <p:cNvPr id="13" name="Text 11"/>
          <p:cNvSpPr/>
          <p:nvPr/>
        </p:nvSpPr>
        <p:spPr>
          <a:xfrm>
            <a:off x="1508760" y="1965960"/>
            <a:ext cx="612648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Productividad  =  Líneas de código escritas  ÷  Horas trabajadas por el equipo</a:t>
            </a:r>
            <a:endParaRPr lang="en-US" sz="1600" dirty="0"/>
          </a:p>
        </p:txBody>
      </p:sp>
      <p:sp>
        <p:nvSpPr>
          <p:cNvPr id="14" name="Text 12"/>
          <p:cNvSpPr/>
          <p:nvPr/>
        </p:nvSpPr>
        <p:spPr>
          <a:xfrm>
            <a:off x="365760" y="2834640"/>
            <a:ext cx="4572000" cy="292608"/>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182112"/>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182112"/>
            <a:ext cx="4572000" cy="457200"/>
          </a:xfrm>
          <a:prstGeom prst="rect">
            <a:avLst/>
          </a:prstGeom>
          <a:solidFill>
            <a:srgbClr val="FFFFFF"/>
          </a:solidFill>
          <a:ln w="12700">
            <a:solidFill>
              <a:srgbClr val="DDDDDD"/>
            </a:solidFill>
            <a:prstDash val="solid"/>
          </a:ln>
        </p:spPr>
      </p:sp>
      <p:sp>
        <p:nvSpPr>
          <p:cNvPr id="17" name="Text 15"/>
          <p:cNvSpPr/>
          <p:nvPr/>
        </p:nvSpPr>
        <p:spPr>
          <a:xfrm>
            <a:off x="457200" y="3182112"/>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El equipo escribió en total:</a:t>
            </a:r>
            <a:endParaRPr lang="en-US" sz="1200" dirty="0"/>
          </a:p>
        </p:txBody>
      </p:sp>
      <p:sp>
        <p:nvSpPr>
          <p:cNvPr id="18" name="Text 16"/>
          <p:cNvSpPr/>
          <p:nvPr/>
        </p:nvSpPr>
        <p:spPr>
          <a:xfrm>
            <a:off x="3794760" y="3182112"/>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3,200 líneas de código</a:t>
            </a:r>
            <a:endParaRPr lang="en-US" sz="1300" dirty="0"/>
          </a:p>
        </p:txBody>
      </p:sp>
      <p:sp>
        <p:nvSpPr>
          <p:cNvPr id="19" name="Shape 17"/>
          <p:cNvSpPr/>
          <p:nvPr/>
        </p:nvSpPr>
        <p:spPr>
          <a:xfrm>
            <a:off x="365760" y="3685032"/>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685032"/>
            <a:ext cx="4572000" cy="457200"/>
          </a:xfrm>
          <a:prstGeom prst="rect">
            <a:avLst/>
          </a:prstGeom>
          <a:solidFill>
            <a:srgbClr val="FFFFFF"/>
          </a:solidFill>
          <a:ln w="12700">
            <a:solidFill>
              <a:srgbClr val="DDDDDD"/>
            </a:solidFill>
            <a:prstDash val="solid"/>
          </a:ln>
        </p:spPr>
      </p:sp>
      <p:sp>
        <p:nvSpPr>
          <p:cNvPr id="21" name="Text 19"/>
          <p:cNvSpPr/>
          <p:nvPr/>
        </p:nvSpPr>
        <p:spPr>
          <a:xfrm>
            <a:off x="457200" y="3685032"/>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El equipo trabajó en total:</a:t>
            </a:r>
            <a:endParaRPr lang="en-US" sz="1200" dirty="0"/>
          </a:p>
        </p:txBody>
      </p:sp>
      <p:sp>
        <p:nvSpPr>
          <p:cNvPr id="22" name="Text 20"/>
          <p:cNvSpPr/>
          <p:nvPr/>
        </p:nvSpPr>
        <p:spPr>
          <a:xfrm>
            <a:off x="3794760" y="3685032"/>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160 horas (entre todas las personas del equipo)</a:t>
            </a:r>
            <a:endParaRPr lang="en-US" sz="1300" dirty="0"/>
          </a:p>
        </p:txBody>
      </p:sp>
      <p:sp>
        <p:nvSpPr>
          <p:cNvPr id="23" name="Shape 21"/>
          <p:cNvSpPr/>
          <p:nvPr/>
        </p:nvSpPr>
        <p:spPr>
          <a:xfrm>
            <a:off x="365760" y="4187952"/>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187952"/>
            <a:ext cx="4572000" cy="457200"/>
          </a:xfrm>
          <a:prstGeom prst="rect">
            <a:avLst/>
          </a:prstGeom>
          <a:solidFill>
            <a:srgbClr val="1565C0"/>
          </a:solidFill>
          <a:ln w="12700">
            <a:solidFill>
              <a:srgbClr val="1565C0"/>
            </a:solidFill>
            <a:prstDash val="solid"/>
          </a:ln>
        </p:spPr>
      </p:sp>
      <p:sp>
        <p:nvSpPr>
          <p:cNvPr id="25" name="Text 23"/>
          <p:cNvSpPr/>
          <p:nvPr/>
        </p:nvSpPr>
        <p:spPr>
          <a:xfrm>
            <a:off x="457200" y="4187952"/>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Productividad = 3,200 ÷ 160 =</a:t>
            </a:r>
            <a:endParaRPr lang="en-US" sz="1200" dirty="0"/>
          </a:p>
        </p:txBody>
      </p:sp>
      <p:sp>
        <p:nvSpPr>
          <p:cNvPr id="26" name="Text 24"/>
          <p:cNvSpPr/>
          <p:nvPr/>
        </p:nvSpPr>
        <p:spPr>
          <a:xfrm>
            <a:off x="3794760" y="4187952"/>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20 líneas de código por hora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2 — Densidad de defectos</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¿Cuántos errores tiene el código por cada 1,000 líneas?</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9" name="Shape 7"/>
          <p:cNvSpPr/>
          <p:nvPr/>
        </p:nvSpPr>
        <p:spPr>
          <a:xfrm>
            <a:off x="365760" y="1143000"/>
            <a:ext cx="64008" cy="749808"/>
          </a:xfrm>
          <a:prstGeom prst="rect">
            <a:avLst/>
          </a:prstGeom>
          <a:solidFill>
            <a:srgbClr val="C62828"/>
          </a:solidFill>
          <a:ln w="12700">
            <a:solidFill>
              <a:srgbClr val="C62828"/>
            </a:solidFill>
            <a:prstDash val="solid"/>
          </a:ln>
        </p:spPr>
      </p:sp>
      <p:sp>
        <p:nvSpPr>
          <p:cNvPr id="10" name="Shape 8"/>
          <p:cNvSpPr/>
          <p:nvPr/>
        </p:nvSpPr>
        <p:spPr>
          <a:xfrm>
            <a:off x="429768" y="1143000"/>
            <a:ext cx="8348472" cy="749808"/>
          </a:xfrm>
          <a:prstGeom prst="rect">
            <a:avLst/>
          </a:prstGeom>
          <a:solidFill>
            <a:srgbClr val="FFEBEE"/>
          </a:solidFill>
          <a:ln w="12700">
            <a:solidFill>
              <a:srgbClr val="FFEBEE"/>
            </a:solidFill>
            <a:prstDash val="solid"/>
          </a:ln>
        </p:spPr>
      </p:sp>
      <p:sp>
        <p:nvSpPr>
          <p:cNvPr id="11" name="Text 9"/>
          <p:cNvSpPr/>
          <p:nvPr/>
        </p:nvSpPr>
        <p:spPr>
          <a:xfrm>
            <a:off x="548640" y="114300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Esta métrica nos dice qué tan "lleno de errores" está el código. Se mide por cada 1,000 líneas porque si el proyecto es grande, contar errores totales no es justo — 10 errores en 500 líneas es muy diferente a 10 errores en 50,000 líneas.</a:t>
            </a:r>
            <a:endParaRPr lang="en-US" sz="1300" dirty="0"/>
          </a:p>
        </p:txBody>
      </p:sp>
      <p:sp>
        <p:nvSpPr>
          <p:cNvPr id="12" name="Shape 10"/>
          <p:cNvSpPr/>
          <p:nvPr/>
        </p:nvSpPr>
        <p:spPr>
          <a:xfrm>
            <a:off x="365760" y="2029968"/>
            <a:ext cx="8412480" cy="749808"/>
          </a:xfrm>
          <a:prstGeom prst="rect">
            <a:avLst/>
          </a:prstGeom>
          <a:solidFill>
            <a:srgbClr val="C62828"/>
          </a:solidFill>
          <a:ln w="12700">
            <a:solidFill>
              <a:srgbClr val="C62828"/>
            </a:solidFill>
            <a:prstDash val="solid"/>
          </a:ln>
          <a:effectLst>
            <a:outerShdw blurRad="76200" dist="25400" dir="8100000" algn="bl" rotWithShape="0">
              <a:srgbClr val="000000">
                <a:alpha val="15000"/>
              </a:srgbClr>
            </a:outerShdw>
          </a:effectLst>
        </p:spPr>
      </p:sp>
      <p:sp>
        <p:nvSpPr>
          <p:cNvPr id="13" name="Text 11"/>
          <p:cNvSpPr/>
          <p:nvPr/>
        </p:nvSpPr>
        <p:spPr>
          <a:xfrm>
            <a:off x="502920" y="2029968"/>
            <a:ext cx="813816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Densidad de defectos  =  (Errores encontrados en pruebas + Errores reportados por usuarios)  ÷  (Líneas de código ÷ 1,000)</a:t>
            </a:r>
            <a:endParaRPr lang="en-US" sz="1600" dirty="0"/>
          </a:p>
        </p:txBody>
      </p:sp>
      <p:sp>
        <p:nvSpPr>
          <p:cNvPr id="14" name="Text 12"/>
          <p:cNvSpPr/>
          <p:nvPr/>
        </p:nvSpPr>
        <p:spPr>
          <a:xfrm>
            <a:off x="365760" y="2907792"/>
            <a:ext cx="4572000" cy="292608"/>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246120"/>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246120"/>
            <a:ext cx="4572000" cy="457200"/>
          </a:xfrm>
          <a:prstGeom prst="rect">
            <a:avLst/>
          </a:prstGeom>
          <a:solidFill>
            <a:srgbClr val="FFFFFF"/>
          </a:solidFill>
          <a:ln w="12700">
            <a:solidFill>
              <a:srgbClr val="DDDDDD"/>
            </a:solidFill>
            <a:prstDash val="solid"/>
          </a:ln>
        </p:spPr>
      </p:sp>
      <p:sp>
        <p:nvSpPr>
          <p:cNvPr id="17" name="Text 15"/>
          <p:cNvSpPr/>
          <p:nvPr/>
        </p:nvSpPr>
        <p:spPr>
          <a:xfrm>
            <a:off x="457200" y="324612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Errores en pruebas + errores de usuarios:</a:t>
            </a:r>
            <a:endParaRPr lang="en-US" sz="1200" dirty="0"/>
          </a:p>
        </p:txBody>
      </p:sp>
      <p:sp>
        <p:nvSpPr>
          <p:cNvPr id="18" name="Text 16"/>
          <p:cNvSpPr/>
          <p:nvPr/>
        </p:nvSpPr>
        <p:spPr>
          <a:xfrm>
            <a:off x="3794760" y="324612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12 + 3 = 15 errores en total</a:t>
            </a:r>
            <a:endParaRPr lang="en-US" sz="1300" dirty="0"/>
          </a:p>
        </p:txBody>
      </p:sp>
      <p:sp>
        <p:nvSpPr>
          <p:cNvPr id="19" name="Shape 17"/>
          <p:cNvSpPr/>
          <p:nvPr/>
        </p:nvSpPr>
        <p:spPr>
          <a:xfrm>
            <a:off x="365760" y="3749040"/>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749040"/>
            <a:ext cx="4572000" cy="457200"/>
          </a:xfrm>
          <a:prstGeom prst="rect">
            <a:avLst/>
          </a:prstGeom>
          <a:solidFill>
            <a:srgbClr val="FFFFFF"/>
          </a:solidFill>
          <a:ln w="12700">
            <a:solidFill>
              <a:srgbClr val="DDDDDD"/>
            </a:solidFill>
            <a:prstDash val="solid"/>
          </a:ln>
        </p:spPr>
      </p:sp>
      <p:sp>
        <p:nvSpPr>
          <p:cNvPr id="21" name="Text 19"/>
          <p:cNvSpPr/>
          <p:nvPr/>
        </p:nvSpPr>
        <p:spPr>
          <a:xfrm>
            <a:off x="457200" y="374904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Líneas de código ÷ 1,000:</a:t>
            </a:r>
            <a:endParaRPr lang="en-US" sz="1200" dirty="0"/>
          </a:p>
        </p:txBody>
      </p:sp>
      <p:sp>
        <p:nvSpPr>
          <p:cNvPr id="22" name="Text 20"/>
          <p:cNvSpPr/>
          <p:nvPr/>
        </p:nvSpPr>
        <p:spPr>
          <a:xfrm>
            <a:off x="3794760" y="374904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3,200 ÷ 1,000 = 3.2 KLOC (miles de líneas)</a:t>
            </a:r>
            <a:endParaRPr lang="en-US" sz="1300" dirty="0"/>
          </a:p>
        </p:txBody>
      </p:sp>
      <p:sp>
        <p:nvSpPr>
          <p:cNvPr id="23" name="Shape 21"/>
          <p:cNvSpPr/>
          <p:nvPr/>
        </p:nvSpPr>
        <p:spPr>
          <a:xfrm>
            <a:off x="365760" y="4251960"/>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251960"/>
            <a:ext cx="4572000" cy="457200"/>
          </a:xfrm>
          <a:prstGeom prst="rect">
            <a:avLst/>
          </a:prstGeom>
          <a:solidFill>
            <a:srgbClr val="C62828"/>
          </a:solidFill>
          <a:ln w="12700">
            <a:solidFill>
              <a:srgbClr val="C62828"/>
            </a:solidFill>
            <a:prstDash val="solid"/>
          </a:ln>
        </p:spPr>
      </p:sp>
      <p:sp>
        <p:nvSpPr>
          <p:cNvPr id="25" name="Text 23"/>
          <p:cNvSpPr/>
          <p:nvPr/>
        </p:nvSpPr>
        <p:spPr>
          <a:xfrm>
            <a:off x="457200" y="425196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Densidad = 15 ÷ 3.2 =</a:t>
            </a:r>
            <a:endParaRPr lang="en-US" sz="1200" dirty="0"/>
          </a:p>
        </p:txBody>
      </p:sp>
      <p:sp>
        <p:nvSpPr>
          <p:cNvPr id="26" name="Text 24"/>
          <p:cNvSpPr/>
          <p:nvPr/>
        </p:nvSpPr>
        <p:spPr>
          <a:xfrm>
            <a:off x="3794760" y="4251960"/>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4.69 errores por cada 1,000 líneas → ROJO (&gt; 0.7)</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2 — Densidad de defectos: ¿cómo interpretarla?</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320040" y="1143000"/>
            <a:ext cx="2743200" cy="502920"/>
          </a:xfrm>
          <a:prstGeom prst="rect">
            <a:avLst/>
          </a:prstGeom>
          <a:solidFill>
            <a:srgbClr val="E8F5E9"/>
          </a:solidFill>
          <a:ln w="12700">
            <a:solidFill>
              <a:srgbClr val="2E7D32"/>
            </a:solidFill>
            <a:prstDash val="solid"/>
          </a:ln>
        </p:spPr>
      </p:sp>
      <p:sp>
        <p:nvSpPr>
          <p:cNvPr id="9" name="Shape 7"/>
          <p:cNvSpPr/>
          <p:nvPr/>
        </p:nvSpPr>
        <p:spPr>
          <a:xfrm>
            <a:off x="320040" y="1143000"/>
            <a:ext cx="1005840" cy="502920"/>
          </a:xfrm>
          <a:prstGeom prst="rect">
            <a:avLst/>
          </a:prstGeom>
          <a:solidFill>
            <a:srgbClr val="2E7D32"/>
          </a:solidFill>
          <a:ln w="12700">
            <a:solidFill>
              <a:srgbClr val="2E7D32"/>
            </a:solidFill>
            <a:prstDash val="solid"/>
          </a:ln>
        </p:spPr>
      </p:sp>
      <p:sp>
        <p:nvSpPr>
          <p:cNvPr id="10" name="Text 8"/>
          <p:cNvSpPr/>
          <p:nvPr/>
        </p:nvSpPr>
        <p:spPr>
          <a:xfrm>
            <a:off x="36576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BIEN</a:t>
            </a:r>
            <a:endParaRPr lang="en-US" sz="1000" dirty="0"/>
          </a:p>
        </p:txBody>
      </p:sp>
      <p:sp>
        <p:nvSpPr>
          <p:cNvPr id="11" name="Text 9"/>
          <p:cNvSpPr/>
          <p:nvPr/>
        </p:nvSpPr>
        <p:spPr>
          <a:xfrm>
            <a:off x="137160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Menos de 0.3 errores por KLOC (miles de líneas)</a:t>
            </a:r>
            <a:endParaRPr lang="en-US" sz="1100" dirty="0"/>
          </a:p>
        </p:txBody>
      </p:sp>
      <p:sp>
        <p:nvSpPr>
          <p:cNvPr id="12" name="Shape 10"/>
          <p:cNvSpPr/>
          <p:nvPr/>
        </p:nvSpPr>
        <p:spPr>
          <a:xfrm>
            <a:off x="3154680" y="1143000"/>
            <a:ext cx="2743200" cy="502920"/>
          </a:xfrm>
          <a:prstGeom prst="rect">
            <a:avLst/>
          </a:prstGeom>
          <a:solidFill>
            <a:srgbClr val="FFF9C4"/>
          </a:solidFill>
          <a:ln w="12700">
            <a:solidFill>
              <a:srgbClr val="F57F17"/>
            </a:solidFill>
            <a:prstDash val="solid"/>
          </a:ln>
        </p:spPr>
      </p:sp>
      <p:sp>
        <p:nvSpPr>
          <p:cNvPr id="13" name="Shape 11"/>
          <p:cNvSpPr/>
          <p:nvPr/>
        </p:nvSpPr>
        <p:spPr>
          <a:xfrm>
            <a:off x="3154680" y="1143000"/>
            <a:ext cx="1005840" cy="502920"/>
          </a:xfrm>
          <a:prstGeom prst="rect">
            <a:avLst/>
          </a:prstGeom>
          <a:solidFill>
            <a:srgbClr val="F57F17"/>
          </a:solidFill>
          <a:ln w="12700">
            <a:solidFill>
              <a:srgbClr val="F57F17"/>
            </a:solidFill>
            <a:prstDash val="solid"/>
          </a:ln>
        </p:spPr>
      </p:sp>
      <p:sp>
        <p:nvSpPr>
          <p:cNvPr id="14" name="Text 12"/>
          <p:cNvSpPr/>
          <p:nvPr/>
        </p:nvSpPr>
        <p:spPr>
          <a:xfrm>
            <a:off x="320040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ATENCIÓN</a:t>
            </a:r>
            <a:endParaRPr lang="en-US" sz="1000" dirty="0"/>
          </a:p>
        </p:txBody>
      </p:sp>
      <p:sp>
        <p:nvSpPr>
          <p:cNvPr id="15" name="Text 13"/>
          <p:cNvSpPr/>
          <p:nvPr/>
        </p:nvSpPr>
        <p:spPr>
          <a:xfrm>
            <a:off x="420624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Entre 0.3 y 0.7</a:t>
            </a:r>
            <a:endParaRPr lang="en-US" sz="1100" dirty="0"/>
          </a:p>
        </p:txBody>
      </p:sp>
      <p:sp>
        <p:nvSpPr>
          <p:cNvPr id="16" name="Shape 14"/>
          <p:cNvSpPr/>
          <p:nvPr/>
        </p:nvSpPr>
        <p:spPr>
          <a:xfrm>
            <a:off x="5989320" y="1143000"/>
            <a:ext cx="2743200" cy="502920"/>
          </a:xfrm>
          <a:prstGeom prst="rect">
            <a:avLst/>
          </a:prstGeom>
          <a:solidFill>
            <a:srgbClr val="FFEBEE"/>
          </a:solidFill>
          <a:ln w="12700">
            <a:solidFill>
              <a:srgbClr val="C62828"/>
            </a:solidFill>
            <a:prstDash val="solid"/>
          </a:ln>
        </p:spPr>
      </p:sp>
      <p:sp>
        <p:nvSpPr>
          <p:cNvPr id="17" name="Shape 15"/>
          <p:cNvSpPr/>
          <p:nvPr/>
        </p:nvSpPr>
        <p:spPr>
          <a:xfrm>
            <a:off x="5989320" y="1143000"/>
            <a:ext cx="1005840" cy="502920"/>
          </a:xfrm>
          <a:prstGeom prst="rect">
            <a:avLst/>
          </a:prstGeom>
          <a:solidFill>
            <a:srgbClr val="C62828"/>
          </a:solidFill>
          <a:ln w="12700">
            <a:solidFill>
              <a:srgbClr val="C62828"/>
            </a:solidFill>
            <a:prstDash val="solid"/>
          </a:ln>
        </p:spPr>
      </p:sp>
      <p:sp>
        <p:nvSpPr>
          <p:cNvPr id="18" name="Text 16"/>
          <p:cNvSpPr/>
          <p:nvPr/>
        </p:nvSpPr>
        <p:spPr>
          <a:xfrm>
            <a:off x="603504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CRÍTICO</a:t>
            </a:r>
            <a:endParaRPr lang="en-US" sz="1000" dirty="0"/>
          </a:p>
        </p:txBody>
      </p:sp>
      <p:sp>
        <p:nvSpPr>
          <p:cNvPr id="19" name="Text 17"/>
          <p:cNvSpPr/>
          <p:nvPr/>
        </p:nvSpPr>
        <p:spPr>
          <a:xfrm>
            <a:off x="704088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Más de 0.7 errores por KLOC (miles de líneas)</a:t>
            </a:r>
            <a:endParaRPr lang="en-US" sz="1100" dirty="0"/>
          </a:p>
        </p:txBody>
      </p:sp>
      <p:sp>
        <p:nvSpPr>
          <p:cNvPr id="20" name="Shape 18"/>
          <p:cNvSpPr/>
          <p:nvPr/>
        </p:nvSpPr>
        <p:spPr>
          <a:xfrm>
            <a:off x="365760" y="1874520"/>
            <a:ext cx="64008" cy="658368"/>
          </a:xfrm>
          <a:prstGeom prst="rect">
            <a:avLst/>
          </a:prstGeom>
          <a:solidFill>
            <a:srgbClr val="C62828"/>
          </a:solidFill>
          <a:ln w="12700">
            <a:solidFill>
              <a:srgbClr val="C62828"/>
            </a:solidFill>
            <a:prstDash val="solid"/>
          </a:ln>
        </p:spPr>
      </p:sp>
      <p:sp>
        <p:nvSpPr>
          <p:cNvPr id="21" name="Shape 19"/>
          <p:cNvSpPr/>
          <p:nvPr/>
        </p:nvSpPr>
        <p:spPr>
          <a:xfrm>
            <a:off x="429768" y="1874520"/>
            <a:ext cx="8348472" cy="658368"/>
          </a:xfrm>
          <a:prstGeom prst="rect">
            <a:avLst/>
          </a:prstGeom>
          <a:solidFill>
            <a:srgbClr val="FFEBEE"/>
          </a:solidFill>
          <a:ln w="12700">
            <a:solidFill>
              <a:srgbClr val="FFEBEE"/>
            </a:solidFill>
            <a:prstDash val="solid"/>
          </a:ln>
        </p:spPr>
      </p:sp>
      <p:sp>
        <p:nvSpPr>
          <p:cNvPr id="22" name="Text 20"/>
          <p:cNvSpPr/>
          <p:nvPr/>
        </p:nvSpPr>
        <p:spPr>
          <a:xfrm>
            <a:off x="548640" y="1874520"/>
            <a:ext cx="8165592"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¿Por qué el umbral es tan bajo? En proyectos de software profesional, incluso 1 error por cada 1,000 líneas puede causar problemas graves. Los equipos de alta calidad apuntan a menos de 0.3.</a:t>
            </a:r>
            <a:endParaRPr lang="en-US" sz="1300" dirty="0"/>
          </a:p>
        </p:txBody>
      </p:sp>
      <p:sp>
        <p:nvSpPr>
          <p:cNvPr id="23" name="Text 21"/>
          <p:cNvSpPr/>
          <p:nvPr/>
        </p:nvSpPr>
        <p:spPr>
          <a:xfrm>
            <a:off x="365760" y="2697480"/>
            <a:ext cx="457200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¿Qué hacer si está en rojo?</a:t>
            </a:r>
            <a:endParaRPr lang="en-US" sz="1300" dirty="0"/>
          </a:p>
        </p:txBody>
      </p:sp>
      <p:sp>
        <p:nvSpPr>
          <p:cNvPr id="24" name="Text 22"/>
          <p:cNvSpPr/>
          <p:nvPr/>
        </p:nvSpPr>
        <p:spPr>
          <a:xfrm>
            <a:off x="457200" y="3063240"/>
            <a:ext cx="8321040" cy="1645920"/>
          </a:xfrm>
          <a:prstGeom prst="rect">
            <a:avLst/>
          </a:prstGeom>
          <a:noFill/>
          <a:ln/>
        </p:spPr>
        <p:txBody>
          <a:bodyPr wrap="square" rtlCol="0" anchor="t"/>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Revisar si el proceso de revisión de código está funcionando bien</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Ver si el equipo está programando demasiado rápido sin revisar su propio código</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Agregar más revisiones antes de dar el código por terminado (code reviews)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3 — DRE (Eficiencia de Detección de Errores)</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¿Qué tan buenos somos para encontrar errores ANTES de entregar?</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9" name="Shape 7"/>
          <p:cNvSpPr/>
          <p:nvPr/>
        </p:nvSpPr>
        <p:spPr>
          <a:xfrm>
            <a:off x="365760" y="1143000"/>
            <a:ext cx="64008" cy="749808"/>
          </a:xfrm>
          <a:prstGeom prst="rect">
            <a:avLst/>
          </a:prstGeom>
          <a:solidFill>
            <a:srgbClr val="2E7D32"/>
          </a:solidFill>
          <a:ln w="12700">
            <a:solidFill>
              <a:srgbClr val="2E7D32"/>
            </a:solidFill>
            <a:prstDash val="solid"/>
          </a:ln>
        </p:spPr>
      </p:sp>
      <p:sp>
        <p:nvSpPr>
          <p:cNvPr id="10" name="Shape 8"/>
          <p:cNvSpPr/>
          <p:nvPr/>
        </p:nvSpPr>
        <p:spPr>
          <a:xfrm>
            <a:off x="429768" y="1143000"/>
            <a:ext cx="8348472" cy="749808"/>
          </a:xfrm>
          <a:prstGeom prst="rect">
            <a:avLst/>
          </a:prstGeom>
          <a:solidFill>
            <a:srgbClr val="E8F5E9"/>
          </a:solidFill>
          <a:ln w="12700">
            <a:solidFill>
              <a:srgbClr val="E8F5E9"/>
            </a:solidFill>
            <a:prstDash val="solid"/>
          </a:ln>
        </p:spPr>
      </p:sp>
      <p:sp>
        <p:nvSpPr>
          <p:cNvPr id="11" name="Text 9"/>
          <p:cNvSpPr/>
          <p:nvPr/>
        </p:nvSpPr>
        <p:spPr>
          <a:xfrm>
            <a:off x="548640" y="114300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DRE significa: Detection Rate Effectiveness, o eficiencia de detección. Mide si el equipo está encontrando los errores durante las pruebas (antes de entregarlo al cliente) o si los errores se escapan y los encuentra el usuario. Un DRE alto significa que las pruebas son efectivas.</a:t>
            </a:r>
            <a:endParaRPr lang="en-US" sz="1300" dirty="0"/>
          </a:p>
        </p:txBody>
      </p:sp>
      <p:sp>
        <p:nvSpPr>
          <p:cNvPr id="12" name="Shape 10"/>
          <p:cNvSpPr/>
          <p:nvPr/>
        </p:nvSpPr>
        <p:spPr>
          <a:xfrm>
            <a:off x="822960" y="2029968"/>
            <a:ext cx="7498080" cy="749808"/>
          </a:xfrm>
          <a:prstGeom prst="rect">
            <a:avLst/>
          </a:prstGeom>
          <a:solidFill>
            <a:srgbClr val="2E7D32"/>
          </a:solidFill>
          <a:ln w="12700">
            <a:solidFill>
              <a:srgbClr val="2E7D32"/>
            </a:solidFill>
            <a:prstDash val="solid"/>
          </a:ln>
          <a:effectLst>
            <a:outerShdw blurRad="76200" dist="25400" dir="8100000" algn="bl" rotWithShape="0">
              <a:srgbClr val="000000">
                <a:alpha val="15000"/>
              </a:srgbClr>
            </a:outerShdw>
          </a:effectLst>
        </p:spPr>
      </p:sp>
      <p:sp>
        <p:nvSpPr>
          <p:cNvPr id="13" name="Text 11"/>
          <p:cNvSpPr/>
          <p:nvPr/>
        </p:nvSpPr>
        <p:spPr>
          <a:xfrm>
            <a:off x="960120" y="2029968"/>
            <a:ext cx="722376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DRE  =  Errores encontrados en pruebas  ÷  (Errores en pruebas + Errores reportados por usuarios)  ×  100</a:t>
            </a:r>
            <a:endParaRPr lang="en-US" sz="1600" dirty="0"/>
          </a:p>
        </p:txBody>
      </p:sp>
      <p:sp>
        <p:nvSpPr>
          <p:cNvPr id="14" name="Text 12"/>
          <p:cNvSpPr/>
          <p:nvPr/>
        </p:nvSpPr>
        <p:spPr>
          <a:xfrm>
            <a:off x="365760" y="2907792"/>
            <a:ext cx="4572000" cy="292608"/>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246120"/>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246120"/>
            <a:ext cx="4572000" cy="457200"/>
          </a:xfrm>
          <a:prstGeom prst="rect">
            <a:avLst/>
          </a:prstGeom>
          <a:solidFill>
            <a:srgbClr val="FFFFFF"/>
          </a:solidFill>
          <a:ln w="12700">
            <a:solidFill>
              <a:srgbClr val="DDDDDD"/>
            </a:solidFill>
            <a:prstDash val="solid"/>
          </a:ln>
        </p:spPr>
      </p:sp>
      <p:sp>
        <p:nvSpPr>
          <p:cNvPr id="17" name="Text 15"/>
          <p:cNvSpPr/>
          <p:nvPr/>
        </p:nvSpPr>
        <p:spPr>
          <a:xfrm>
            <a:off x="457200" y="324612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Errores que encontramos en pruebas:</a:t>
            </a:r>
            <a:endParaRPr lang="en-US" sz="1200" dirty="0"/>
          </a:p>
        </p:txBody>
      </p:sp>
      <p:sp>
        <p:nvSpPr>
          <p:cNvPr id="18" name="Text 16"/>
          <p:cNvSpPr/>
          <p:nvPr/>
        </p:nvSpPr>
        <p:spPr>
          <a:xfrm>
            <a:off x="3794760" y="324612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12 errores (antes de entregar)</a:t>
            </a:r>
            <a:endParaRPr lang="en-US" sz="1300" dirty="0"/>
          </a:p>
        </p:txBody>
      </p:sp>
      <p:sp>
        <p:nvSpPr>
          <p:cNvPr id="19" name="Shape 17"/>
          <p:cNvSpPr/>
          <p:nvPr/>
        </p:nvSpPr>
        <p:spPr>
          <a:xfrm>
            <a:off x="365760" y="3749040"/>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749040"/>
            <a:ext cx="4572000" cy="457200"/>
          </a:xfrm>
          <a:prstGeom prst="rect">
            <a:avLst/>
          </a:prstGeom>
          <a:solidFill>
            <a:srgbClr val="FFFFFF"/>
          </a:solidFill>
          <a:ln w="12700">
            <a:solidFill>
              <a:srgbClr val="DDDDDD"/>
            </a:solidFill>
            <a:prstDash val="solid"/>
          </a:ln>
        </p:spPr>
      </p:sp>
      <p:sp>
        <p:nvSpPr>
          <p:cNvPr id="21" name="Text 19"/>
          <p:cNvSpPr/>
          <p:nvPr/>
        </p:nvSpPr>
        <p:spPr>
          <a:xfrm>
            <a:off x="457200" y="374904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Errores que reportaron los usuarios:</a:t>
            </a:r>
            <a:endParaRPr lang="en-US" sz="1200" dirty="0"/>
          </a:p>
        </p:txBody>
      </p:sp>
      <p:sp>
        <p:nvSpPr>
          <p:cNvPr id="22" name="Text 20"/>
          <p:cNvSpPr/>
          <p:nvPr/>
        </p:nvSpPr>
        <p:spPr>
          <a:xfrm>
            <a:off x="3794760" y="374904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 errores (después de entregar)</a:t>
            </a:r>
            <a:endParaRPr lang="en-US" sz="1300" dirty="0"/>
          </a:p>
        </p:txBody>
      </p:sp>
      <p:sp>
        <p:nvSpPr>
          <p:cNvPr id="23" name="Shape 21"/>
          <p:cNvSpPr/>
          <p:nvPr/>
        </p:nvSpPr>
        <p:spPr>
          <a:xfrm>
            <a:off x="365760" y="4251960"/>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251960"/>
            <a:ext cx="4572000" cy="457200"/>
          </a:xfrm>
          <a:prstGeom prst="rect">
            <a:avLst/>
          </a:prstGeom>
          <a:solidFill>
            <a:srgbClr val="2E7D32"/>
          </a:solidFill>
          <a:ln w="12700">
            <a:solidFill>
              <a:srgbClr val="2E7D32"/>
            </a:solidFill>
            <a:prstDash val="solid"/>
          </a:ln>
        </p:spPr>
      </p:sp>
      <p:sp>
        <p:nvSpPr>
          <p:cNvPr id="25" name="Text 23"/>
          <p:cNvSpPr/>
          <p:nvPr/>
        </p:nvSpPr>
        <p:spPr>
          <a:xfrm>
            <a:off x="457200" y="425196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DRE = 12 ÷ (12+3) × 100 =</a:t>
            </a:r>
            <a:endParaRPr lang="en-US" sz="1200" dirty="0"/>
          </a:p>
        </p:txBody>
      </p:sp>
      <p:sp>
        <p:nvSpPr>
          <p:cNvPr id="26" name="Text 24"/>
          <p:cNvSpPr/>
          <p:nvPr/>
        </p:nvSpPr>
        <p:spPr>
          <a:xfrm>
            <a:off x="3794760" y="4251960"/>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80% — encontramos el 80% de los errores antes de entregar → ATENCIÓN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3 — DRE: ¿cómo interpretarla?</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320040" y="1143000"/>
            <a:ext cx="2743200" cy="502920"/>
          </a:xfrm>
          <a:prstGeom prst="rect">
            <a:avLst/>
          </a:prstGeom>
          <a:solidFill>
            <a:srgbClr val="E8F5E9"/>
          </a:solidFill>
          <a:ln w="12700">
            <a:solidFill>
              <a:srgbClr val="2E7D32"/>
            </a:solidFill>
            <a:prstDash val="solid"/>
          </a:ln>
        </p:spPr>
      </p:sp>
      <p:sp>
        <p:nvSpPr>
          <p:cNvPr id="9" name="Shape 7"/>
          <p:cNvSpPr/>
          <p:nvPr/>
        </p:nvSpPr>
        <p:spPr>
          <a:xfrm>
            <a:off x="320040" y="1143000"/>
            <a:ext cx="1005840" cy="502920"/>
          </a:xfrm>
          <a:prstGeom prst="rect">
            <a:avLst/>
          </a:prstGeom>
          <a:solidFill>
            <a:srgbClr val="2E7D32"/>
          </a:solidFill>
          <a:ln w="12700">
            <a:solidFill>
              <a:srgbClr val="2E7D32"/>
            </a:solidFill>
            <a:prstDash val="solid"/>
          </a:ln>
        </p:spPr>
      </p:sp>
      <p:sp>
        <p:nvSpPr>
          <p:cNvPr id="10" name="Text 8"/>
          <p:cNvSpPr/>
          <p:nvPr/>
        </p:nvSpPr>
        <p:spPr>
          <a:xfrm>
            <a:off x="36576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BIEN</a:t>
            </a:r>
            <a:endParaRPr lang="en-US" sz="1000" dirty="0"/>
          </a:p>
        </p:txBody>
      </p:sp>
      <p:sp>
        <p:nvSpPr>
          <p:cNvPr id="11" name="Text 9"/>
          <p:cNvSpPr/>
          <p:nvPr/>
        </p:nvSpPr>
        <p:spPr>
          <a:xfrm>
            <a:off x="137160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Más del 85%</a:t>
            </a:r>
            <a:endParaRPr lang="en-US" sz="1100" dirty="0"/>
          </a:p>
        </p:txBody>
      </p:sp>
      <p:sp>
        <p:nvSpPr>
          <p:cNvPr id="12" name="Shape 10"/>
          <p:cNvSpPr/>
          <p:nvPr/>
        </p:nvSpPr>
        <p:spPr>
          <a:xfrm>
            <a:off x="3154680" y="1143000"/>
            <a:ext cx="2743200" cy="502920"/>
          </a:xfrm>
          <a:prstGeom prst="rect">
            <a:avLst/>
          </a:prstGeom>
          <a:solidFill>
            <a:srgbClr val="FFF9C4"/>
          </a:solidFill>
          <a:ln w="12700">
            <a:solidFill>
              <a:srgbClr val="F57F17"/>
            </a:solidFill>
            <a:prstDash val="solid"/>
          </a:ln>
        </p:spPr>
      </p:sp>
      <p:sp>
        <p:nvSpPr>
          <p:cNvPr id="13" name="Shape 11"/>
          <p:cNvSpPr/>
          <p:nvPr/>
        </p:nvSpPr>
        <p:spPr>
          <a:xfrm>
            <a:off x="3154680" y="1143000"/>
            <a:ext cx="1005840" cy="502920"/>
          </a:xfrm>
          <a:prstGeom prst="rect">
            <a:avLst/>
          </a:prstGeom>
          <a:solidFill>
            <a:srgbClr val="F57F17"/>
          </a:solidFill>
          <a:ln w="12700">
            <a:solidFill>
              <a:srgbClr val="F57F17"/>
            </a:solidFill>
            <a:prstDash val="solid"/>
          </a:ln>
        </p:spPr>
      </p:sp>
      <p:sp>
        <p:nvSpPr>
          <p:cNvPr id="14" name="Text 12"/>
          <p:cNvSpPr/>
          <p:nvPr/>
        </p:nvSpPr>
        <p:spPr>
          <a:xfrm>
            <a:off x="320040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ATENCIÓN</a:t>
            </a:r>
            <a:endParaRPr lang="en-US" sz="1000" dirty="0"/>
          </a:p>
        </p:txBody>
      </p:sp>
      <p:sp>
        <p:nvSpPr>
          <p:cNvPr id="15" name="Text 13"/>
          <p:cNvSpPr/>
          <p:nvPr/>
        </p:nvSpPr>
        <p:spPr>
          <a:xfrm>
            <a:off x="420624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Entre 70% y 85%</a:t>
            </a:r>
            <a:endParaRPr lang="en-US" sz="1100" dirty="0"/>
          </a:p>
        </p:txBody>
      </p:sp>
      <p:sp>
        <p:nvSpPr>
          <p:cNvPr id="16" name="Shape 14"/>
          <p:cNvSpPr/>
          <p:nvPr/>
        </p:nvSpPr>
        <p:spPr>
          <a:xfrm>
            <a:off x="5989320" y="1143000"/>
            <a:ext cx="2743200" cy="502920"/>
          </a:xfrm>
          <a:prstGeom prst="rect">
            <a:avLst/>
          </a:prstGeom>
          <a:solidFill>
            <a:srgbClr val="FFEBEE"/>
          </a:solidFill>
          <a:ln w="12700">
            <a:solidFill>
              <a:srgbClr val="C62828"/>
            </a:solidFill>
            <a:prstDash val="solid"/>
          </a:ln>
        </p:spPr>
      </p:sp>
      <p:sp>
        <p:nvSpPr>
          <p:cNvPr id="17" name="Shape 15"/>
          <p:cNvSpPr/>
          <p:nvPr/>
        </p:nvSpPr>
        <p:spPr>
          <a:xfrm>
            <a:off x="5989320" y="1143000"/>
            <a:ext cx="1005840" cy="502920"/>
          </a:xfrm>
          <a:prstGeom prst="rect">
            <a:avLst/>
          </a:prstGeom>
          <a:solidFill>
            <a:srgbClr val="C62828"/>
          </a:solidFill>
          <a:ln w="12700">
            <a:solidFill>
              <a:srgbClr val="C62828"/>
            </a:solidFill>
            <a:prstDash val="solid"/>
          </a:ln>
        </p:spPr>
      </p:sp>
      <p:sp>
        <p:nvSpPr>
          <p:cNvPr id="18" name="Text 16"/>
          <p:cNvSpPr/>
          <p:nvPr/>
        </p:nvSpPr>
        <p:spPr>
          <a:xfrm>
            <a:off x="603504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CRÍTICO</a:t>
            </a:r>
            <a:endParaRPr lang="en-US" sz="1000" dirty="0"/>
          </a:p>
        </p:txBody>
      </p:sp>
      <p:sp>
        <p:nvSpPr>
          <p:cNvPr id="19" name="Text 17"/>
          <p:cNvSpPr/>
          <p:nvPr/>
        </p:nvSpPr>
        <p:spPr>
          <a:xfrm>
            <a:off x="704088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Menos del 70%</a:t>
            </a:r>
            <a:endParaRPr lang="en-US" sz="1100" dirty="0"/>
          </a:p>
        </p:txBody>
      </p:sp>
      <p:sp>
        <p:nvSpPr>
          <p:cNvPr id="20" name="Shape 18"/>
          <p:cNvSpPr/>
          <p:nvPr/>
        </p:nvSpPr>
        <p:spPr>
          <a:xfrm>
            <a:off x="365760" y="1874520"/>
            <a:ext cx="64008" cy="658368"/>
          </a:xfrm>
          <a:prstGeom prst="rect">
            <a:avLst/>
          </a:prstGeom>
          <a:solidFill>
            <a:srgbClr val="2E7D32"/>
          </a:solidFill>
          <a:ln w="12700">
            <a:solidFill>
              <a:srgbClr val="2E7D32"/>
            </a:solidFill>
            <a:prstDash val="solid"/>
          </a:ln>
        </p:spPr>
      </p:sp>
      <p:sp>
        <p:nvSpPr>
          <p:cNvPr id="21" name="Shape 19"/>
          <p:cNvSpPr/>
          <p:nvPr/>
        </p:nvSpPr>
        <p:spPr>
          <a:xfrm>
            <a:off x="429768" y="1874520"/>
            <a:ext cx="8348472" cy="658368"/>
          </a:xfrm>
          <a:prstGeom prst="rect">
            <a:avLst/>
          </a:prstGeom>
          <a:solidFill>
            <a:srgbClr val="E8F5E9"/>
          </a:solidFill>
          <a:ln w="12700">
            <a:solidFill>
              <a:srgbClr val="E8F5E9"/>
            </a:solidFill>
            <a:prstDash val="solid"/>
          </a:ln>
        </p:spPr>
      </p:sp>
      <p:sp>
        <p:nvSpPr>
          <p:cNvPr id="22" name="Text 20"/>
          <p:cNvSpPr/>
          <p:nvPr/>
        </p:nvSpPr>
        <p:spPr>
          <a:xfrm>
            <a:off x="548640" y="1874520"/>
            <a:ext cx="8165592"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¿Por qué queremos que sea alto? Porque cada error que se escapa al usuario cuesta mucho más caro arreglarlo que si lo hubiéramos encontrado en las pruebas. Un DRE del 90% significa que de cada 10 errores, 9 los atrapamos antes de que el usuario los vea.</a:t>
            </a:r>
            <a:endParaRPr lang="en-US" sz="1300" dirty="0"/>
          </a:p>
        </p:txBody>
      </p:sp>
      <p:sp>
        <p:nvSpPr>
          <p:cNvPr id="23" name="Text 21"/>
          <p:cNvSpPr/>
          <p:nvPr/>
        </p:nvSpPr>
        <p:spPr>
          <a:xfrm>
            <a:off x="365760" y="2697480"/>
            <a:ext cx="457200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¿Qué hacer si está en rojo?</a:t>
            </a:r>
            <a:endParaRPr lang="en-US" sz="1300" dirty="0"/>
          </a:p>
        </p:txBody>
      </p:sp>
      <p:sp>
        <p:nvSpPr>
          <p:cNvPr id="24" name="Text 22"/>
          <p:cNvSpPr/>
          <p:nvPr/>
        </p:nvSpPr>
        <p:spPr>
          <a:xfrm>
            <a:off x="457200" y="3063240"/>
            <a:ext cx="8321040" cy="1645920"/>
          </a:xfrm>
          <a:prstGeom prst="rect">
            <a:avLst/>
          </a:prstGeom>
          <a:noFill/>
          <a:ln/>
        </p:spPr>
        <p:txBody>
          <a:bodyPr wrap="square" rtlCol="0" anchor="t"/>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Diseñar más casos de prueba — especialmente para las funciones más complejas</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Revisar si el equipo está probando de manera sistemática o solo "a ojo"</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Incluir pruebas de regresión: volver a probar funciones que ya existían cuando se agrega algo nuevo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4 — Cobertura de pruebas</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¿Qué porcentaje del sistema realmente probamos?</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9" name="Shape 7"/>
          <p:cNvSpPr/>
          <p:nvPr/>
        </p:nvSpPr>
        <p:spPr>
          <a:xfrm>
            <a:off x="365760" y="1143000"/>
            <a:ext cx="64008" cy="749808"/>
          </a:xfrm>
          <a:prstGeom prst="rect">
            <a:avLst/>
          </a:prstGeom>
          <a:solidFill>
            <a:srgbClr val="7B1FA2"/>
          </a:solidFill>
          <a:ln w="12700">
            <a:solidFill>
              <a:srgbClr val="7B1FA2"/>
            </a:solidFill>
            <a:prstDash val="solid"/>
          </a:ln>
        </p:spPr>
      </p:sp>
      <p:sp>
        <p:nvSpPr>
          <p:cNvPr id="10" name="Shape 8"/>
          <p:cNvSpPr/>
          <p:nvPr/>
        </p:nvSpPr>
        <p:spPr>
          <a:xfrm>
            <a:off x="429768" y="1143000"/>
            <a:ext cx="8348472" cy="749808"/>
          </a:xfrm>
          <a:prstGeom prst="rect">
            <a:avLst/>
          </a:prstGeom>
          <a:solidFill>
            <a:srgbClr val="F3E5F5"/>
          </a:solidFill>
          <a:ln w="12700">
            <a:solidFill>
              <a:srgbClr val="F3E5F5"/>
            </a:solidFill>
            <a:prstDash val="solid"/>
          </a:ln>
        </p:spPr>
      </p:sp>
      <p:sp>
        <p:nvSpPr>
          <p:cNvPr id="11" name="Text 9"/>
          <p:cNvSpPr/>
          <p:nvPr/>
        </p:nvSpPr>
        <p:spPr>
          <a:xfrm>
            <a:off x="548640" y="114300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La cobertura mide cuántas de las pruebas que planeábamos hacer realmente ejecutamos. Si planeamos 100 pruebas y solo hicimos 60, hay partes del sistema que no sabemos si funcionan. Eso es riesgoso antes de entregar.</a:t>
            </a:r>
            <a:endParaRPr lang="en-US" sz="1300" dirty="0"/>
          </a:p>
        </p:txBody>
      </p:sp>
      <p:sp>
        <p:nvSpPr>
          <p:cNvPr id="12" name="Shape 10"/>
          <p:cNvSpPr/>
          <p:nvPr/>
        </p:nvSpPr>
        <p:spPr>
          <a:xfrm>
            <a:off x="1097280" y="2029968"/>
            <a:ext cx="6949440" cy="658368"/>
          </a:xfrm>
          <a:prstGeom prst="rect">
            <a:avLst/>
          </a:prstGeom>
          <a:solidFill>
            <a:srgbClr val="7B1FA2"/>
          </a:solidFill>
          <a:ln w="12700">
            <a:solidFill>
              <a:srgbClr val="7B1FA2"/>
            </a:solidFill>
            <a:prstDash val="solid"/>
          </a:ln>
          <a:effectLst>
            <a:outerShdw blurRad="76200" dist="25400" dir="8100000" algn="bl" rotWithShape="0">
              <a:srgbClr val="000000">
                <a:alpha val="15000"/>
              </a:srgbClr>
            </a:outerShdw>
          </a:effectLst>
        </p:spPr>
      </p:sp>
      <p:sp>
        <p:nvSpPr>
          <p:cNvPr id="13" name="Text 11"/>
          <p:cNvSpPr/>
          <p:nvPr/>
        </p:nvSpPr>
        <p:spPr>
          <a:xfrm>
            <a:off x="1234440" y="2029968"/>
            <a:ext cx="667512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Cobertura  =  Pruebas que se ejecutaron  ÷  Pruebas que estaban planeadas  ×  100</a:t>
            </a:r>
            <a:endParaRPr lang="en-US" sz="1600" dirty="0"/>
          </a:p>
        </p:txBody>
      </p:sp>
      <p:sp>
        <p:nvSpPr>
          <p:cNvPr id="14" name="Text 12"/>
          <p:cNvSpPr/>
          <p:nvPr/>
        </p:nvSpPr>
        <p:spPr>
          <a:xfrm>
            <a:off x="365760" y="2834640"/>
            <a:ext cx="4572000" cy="292608"/>
          </a:xfrm>
          <a:prstGeom prst="rect">
            <a:avLst/>
          </a:prstGeom>
          <a:noFill/>
          <a:ln/>
        </p:spPr>
        <p:txBody>
          <a:bodyPr wrap="square" rtlCol="0" anchor="ctr"/>
          <a:lstStyle/>
          <a:p>
            <a:pPr marL="0" indent="0">
              <a:buNone/>
            </a:pPr>
            <a:r>
              <a:rPr lang="en-US" sz="1300" b="1" dirty="0">
                <a:solidFill>
                  <a:srgbClr val="7B1FA2"/>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172968"/>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172968"/>
            <a:ext cx="4572000" cy="457200"/>
          </a:xfrm>
          <a:prstGeom prst="rect">
            <a:avLst/>
          </a:prstGeom>
          <a:solidFill>
            <a:srgbClr val="FFFFFF"/>
          </a:solidFill>
          <a:ln w="12700">
            <a:solidFill>
              <a:srgbClr val="DDDDDD"/>
            </a:solidFill>
            <a:prstDash val="solid"/>
          </a:ln>
        </p:spPr>
      </p:sp>
      <p:sp>
        <p:nvSpPr>
          <p:cNvPr id="17" name="Text 15"/>
          <p:cNvSpPr/>
          <p:nvPr/>
        </p:nvSpPr>
        <p:spPr>
          <a:xfrm>
            <a:off x="457200" y="317296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Pruebas que el equipo planeó hacer:</a:t>
            </a:r>
            <a:endParaRPr lang="en-US" sz="1200" dirty="0"/>
          </a:p>
        </p:txBody>
      </p:sp>
      <p:sp>
        <p:nvSpPr>
          <p:cNvPr id="18" name="Text 16"/>
          <p:cNvSpPr/>
          <p:nvPr/>
        </p:nvSpPr>
        <p:spPr>
          <a:xfrm>
            <a:off x="3794760" y="317296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60 pruebas en total</a:t>
            </a:r>
            <a:endParaRPr lang="en-US" sz="1300" dirty="0"/>
          </a:p>
        </p:txBody>
      </p:sp>
      <p:sp>
        <p:nvSpPr>
          <p:cNvPr id="19" name="Shape 17"/>
          <p:cNvSpPr/>
          <p:nvPr/>
        </p:nvSpPr>
        <p:spPr>
          <a:xfrm>
            <a:off x="365760" y="3675888"/>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675888"/>
            <a:ext cx="4572000" cy="457200"/>
          </a:xfrm>
          <a:prstGeom prst="rect">
            <a:avLst/>
          </a:prstGeom>
          <a:solidFill>
            <a:srgbClr val="FFFFFF"/>
          </a:solidFill>
          <a:ln w="12700">
            <a:solidFill>
              <a:srgbClr val="DDDDDD"/>
            </a:solidFill>
            <a:prstDash val="solid"/>
          </a:ln>
        </p:spPr>
      </p:sp>
      <p:sp>
        <p:nvSpPr>
          <p:cNvPr id="21" name="Text 19"/>
          <p:cNvSpPr/>
          <p:nvPr/>
        </p:nvSpPr>
        <p:spPr>
          <a:xfrm>
            <a:off x="457200" y="367588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Pruebas que realmente ejecutaron:</a:t>
            </a:r>
            <a:endParaRPr lang="en-US" sz="1200" dirty="0"/>
          </a:p>
        </p:txBody>
      </p:sp>
      <p:sp>
        <p:nvSpPr>
          <p:cNvPr id="22" name="Text 20"/>
          <p:cNvSpPr/>
          <p:nvPr/>
        </p:nvSpPr>
        <p:spPr>
          <a:xfrm>
            <a:off x="3794760" y="367588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54 pruebas (no alcanzó el tiempo para 6)</a:t>
            </a:r>
            <a:endParaRPr lang="en-US" sz="1300" dirty="0"/>
          </a:p>
        </p:txBody>
      </p:sp>
      <p:sp>
        <p:nvSpPr>
          <p:cNvPr id="23" name="Shape 21"/>
          <p:cNvSpPr/>
          <p:nvPr/>
        </p:nvSpPr>
        <p:spPr>
          <a:xfrm>
            <a:off x="365760" y="4178808"/>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178808"/>
            <a:ext cx="4572000" cy="457200"/>
          </a:xfrm>
          <a:prstGeom prst="rect">
            <a:avLst/>
          </a:prstGeom>
          <a:solidFill>
            <a:srgbClr val="7B1FA2"/>
          </a:solidFill>
          <a:ln w="12700">
            <a:solidFill>
              <a:srgbClr val="7B1FA2"/>
            </a:solidFill>
            <a:prstDash val="solid"/>
          </a:ln>
        </p:spPr>
      </p:sp>
      <p:sp>
        <p:nvSpPr>
          <p:cNvPr id="25" name="Text 23"/>
          <p:cNvSpPr/>
          <p:nvPr/>
        </p:nvSpPr>
        <p:spPr>
          <a:xfrm>
            <a:off x="457200" y="417880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Cobertura = 54 ÷ 60 × 100 =</a:t>
            </a:r>
            <a:endParaRPr lang="en-US" sz="1200" dirty="0"/>
          </a:p>
        </p:txBody>
      </p:sp>
      <p:sp>
        <p:nvSpPr>
          <p:cNvPr id="26" name="Text 24"/>
          <p:cNvSpPr/>
          <p:nvPr/>
        </p:nvSpPr>
        <p:spPr>
          <a:xfrm>
            <a:off x="3794760" y="4178808"/>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90% — la mayoría del sistema fue probado → BIEN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5 — Fiabilidad</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¿Qué tan seguido falla el sistema cuando está en uso?</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9" name="Shape 7"/>
          <p:cNvSpPr/>
          <p:nvPr/>
        </p:nvSpPr>
        <p:spPr>
          <a:xfrm>
            <a:off x="365760" y="1143000"/>
            <a:ext cx="64008" cy="868680"/>
          </a:xfrm>
          <a:prstGeom prst="rect">
            <a:avLst/>
          </a:prstGeom>
          <a:solidFill>
            <a:srgbClr val="00695C"/>
          </a:solidFill>
          <a:ln w="12700">
            <a:solidFill>
              <a:srgbClr val="00695C"/>
            </a:solidFill>
            <a:prstDash val="solid"/>
          </a:ln>
        </p:spPr>
      </p:sp>
      <p:sp>
        <p:nvSpPr>
          <p:cNvPr id="10" name="Shape 8"/>
          <p:cNvSpPr/>
          <p:nvPr/>
        </p:nvSpPr>
        <p:spPr>
          <a:xfrm>
            <a:off x="429768" y="1143000"/>
            <a:ext cx="8348472" cy="868680"/>
          </a:xfrm>
          <a:prstGeom prst="rect">
            <a:avLst/>
          </a:prstGeom>
          <a:solidFill>
            <a:srgbClr val="E0F2F1"/>
          </a:solidFill>
          <a:ln w="12700">
            <a:solidFill>
              <a:srgbClr val="E0F2F1"/>
            </a:solidFill>
            <a:prstDash val="solid"/>
          </a:ln>
        </p:spPr>
      </p:sp>
      <p:sp>
        <p:nvSpPr>
          <p:cNvPr id="11" name="Text 9"/>
          <p:cNvSpPr/>
          <p:nvPr/>
        </p:nvSpPr>
        <p:spPr>
          <a:xfrm>
            <a:off x="548640" y="1143000"/>
            <a:ext cx="8165592"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fiabilidad mide qué tan "confiable" es el sistema. Usamos dos valores:</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MTTF (Mean Time To Failure): el promedio de horas que el sistema funciona bien antes de fallar.</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MTTR (Mean Time To Repair): el promedio de horas que tarda en ser reparado cuando falla.</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Un sistema fiable falla poco y se arregla rápido.</a:t>
            </a:r>
            <a:endParaRPr lang="en-US" sz="1200" dirty="0"/>
          </a:p>
        </p:txBody>
      </p:sp>
      <p:sp>
        <p:nvSpPr>
          <p:cNvPr id="12" name="Shape 10"/>
          <p:cNvSpPr/>
          <p:nvPr/>
        </p:nvSpPr>
        <p:spPr>
          <a:xfrm>
            <a:off x="1097280" y="2176272"/>
            <a:ext cx="6949440" cy="658368"/>
          </a:xfrm>
          <a:prstGeom prst="rect">
            <a:avLst/>
          </a:prstGeom>
          <a:solidFill>
            <a:srgbClr val="00695C"/>
          </a:solidFill>
          <a:ln w="12700">
            <a:solidFill>
              <a:srgbClr val="00695C"/>
            </a:solidFill>
            <a:prstDash val="solid"/>
          </a:ln>
          <a:effectLst>
            <a:outerShdw blurRad="76200" dist="25400" dir="8100000" algn="bl" rotWithShape="0">
              <a:srgbClr val="000000">
                <a:alpha val="15000"/>
              </a:srgbClr>
            </a:outerShdw>
          </a:effectLst>
        </p:spPr>
      </p:sp>
      <p:sp>
        <p:nvSpPr>
          <p:cNvPr id="13" name="Text 11"/>
          <p:cNvSpPr/>
          <p:nvPr/>
        </p:nvSpPr>
        <p:spPr>
          <a:xfrm>
            <a:off x="1234440" y="2176272"/>
            <a:ext cx="667512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Fiabilidad  =  MTTF  ÷  (MTTF + MTTR)</a:t>
            </a:r>
            <a:endParaRPr lang="en-US" sz="1600" dirty="0"/>
          </a:p>
        </p:txBody>
      </p:sp>
      <p:sp>
        <p:nvSpPr>
          <p:cNvPr id="14" name="Text 12"/>
          <p:cNvSpPr/>
          <p:nvPr/>
        </p:nvSpPr>
        <p:spPr>
          <a:xfrm>
            <a:off x="365760" y="2971800"/>
            <a:ext cx="4572000" cy="292608"/>
          </a:xfrm>
          <a:prstGeom prst="rect">
            <a:avLst/>
          </a:prstGeom>
          <a:noFill/>
          <a:ln/>
        </p:spPr>
        <p:txBody>
          <a:bodyPr wrap="square" rtlCol="0" anchor="ctr"/>
          <a:lstStyle/>
          <a:p>
            <a:pPr marL="0" indent="0">
              <a:buNone/>
            </a:pPr>
            <a:r>
              <a:rPr lang="en-US" sz="1300" b="1" dirty="0">
                <a:solidFill>
                  <a:srgbClr val="00695C"/>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310128"/>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310128"/>
            <a:ext cx="4572000" cy="457200"/>
          </a:xfrm>
          <a:prstGeom prst="rect">
            <a:avLst/>
          </a:prstGeom>
          <a:solidFill>
            <a:srgbClr val="FFFFFF"/>
          </a:solidFill>
          <a:ln w="12700">
            <a:solidFill>
              <a:srgbClr val="DDDDDD"/>
            </a:solidFill>
            <a:prstDash val="solid"/>
          </a:ln>
        </p:spPr>
      </p:sp>
      <p:sp>
        <p:nvSpPr>
          <p:cNvPr id="17" name="Text 15"/>
          <p:cNvSpPr/>
          <p:nvPr/>
        </p:nvSpPr>
        <p:spPr>
          <a:xfrm>
            <a:off x="457200" y="331012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MTTF — el sistema funciona bien:</a:t>
            </a:r>
            <a:endParaRPr lang="en-US" sz="1200" dirty="0"/>
          </a:p>
        </p:txBody>
      </p:sp>
      <p:sp>
        <p:nvSpPr>
          <p:cNvPr id="18" name="Text 16"/>
          <p:cNvSpPr/>
          <p:nvPr/>
        </p:nvSpPr>
        <p:spPr>
          <a:xfrm>
            <a:off x="3794760" y="331012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210 horas en promedio antes de fallar</a:t>
            </a:r>
            <a:endParaRPr lang="en-US" sz="1300" dirty="0"/>
          </a:p>
        </p:txBody>
      </p:sp>
      <p:sp>
        <p:nvSpPr>
          <p:cNvPr id="19" name="Shape 17"/>
          <p:cNvSpPr/>
          <p:nvPr/>
        </p:nvSpPr>
        <p:spPr>
          <a:xfrm>
            <a:off x="365760" y="3813048"/>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813048"/>
            <a:ext cx="4572000" cy="457200"/>
          </a:xfrm>
          <a:prstGeom prst="rect">
            <a:avLst/>
          </a:prstGeom>
          <a:solidFill>
            <a:srgbClr val="FFFFFF"/>
          </a:solidFill>
          <a:ln w="12700">
            <a:solidFill>
              <a:srgbClr val="DDDDDD"/>
            </a:solidFill>
            <a:prstDash val="solid"/>
          </a:ln>
        </p:spPr>
      </p:sp>
      <p:sp>
        <p:nvSpPr>
          <p:cNvPr id="21" name="Text 19"/>
          <p:cNvSpPr/>
          <p:nvPr/>
        </p:nvSpPr>
        <p:spPr>
          <a:xfrm>
            <a:off x="457200" y="381304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MTTR — cuando falla, se tarda:</a:t>
            </a:r>
            <a:endParaRPr lang="en-US" sz="1200" dirty="0"/>
          </a:p>
        </p:txBody>
      </p:sp>
      <p:sp>
        <p:nvSpPr>
          <p:cNvPr id="22" name="Text 20"/>
          <p:cNvSpPr/>
          <p:nvPr/>
        </p:nvSpPr>
        <p:spPr>
          <a:xfrm>
            <a:off x="3794760" y="381304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 horas en promedio para repararlo</a:t>
            </a:r>
            <a:endParaRPr lang="en-US" sz="1300" dirty="0"/>
          </a:p>
        </p:txBody>
      </p:sp>
      <p:sp>
        <p:nvSpPr>
          <p:cNvPr id="23" name="Shape 21"/>
          <p:cNvSpPr/>
          <p:nvPr/>
        </p:nvSpPr>
        <p:spPr>
          <a:xfrm>
            <a:off x="365760" y="4315968"/>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315968"/>
            <a:ext cx="4572000" cy="457200"/>
          </a:xfrm>
          <a:prstGeom prst="rect">
            <a:avLst/>
          </a:prstGeom>
          <a:solidFill>
            <a:srgbClr val="00695C"/>
          </a:solidFill>
          <a:ln w="12700">
            <a:solidFill>
              <a:srgbClr val="00695C"/>
            </a:solidFill>
            <a:prstDash val="solid"/>
          </a:ln>
        </p:spPr>
      </p:sp>
      <p:sp>
        <p:nvSpPr>
          <p:cNvPr id="25" name="Text 23"/>
          <p:cNvSpPr/>
          <p:nvPr/>
        </p:nvSpPr>
        <p:spPr>
          <a:xfrm>
            <a:off x="457200" y="431596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Fiabilidad = 210 ÷ (210+3) =</a:t>
            </a:r>
            <a:endParaRPr lang="en-US" sz="1200" dirty="0"/>
          </a:p>
        </p:txBody>
      </p:sp>
      <p:sp>
        <p:nvSpPr>
          <p:cNvPr id="26" name="Text 24"/>
          <p:cNvSpPr/>
          <p:nvPr/>
        </p:nvSpPr>
        <p:spPr>
          <a:xfrm>
            <a:off x="3794760" y="4315968"/>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0.986 → BIEN (más de 0.97)</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5 — Fiabilidad: ¿cómo interpretarla?</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320040" y="1143000"/>
            <a:ext cx="2743200" cy="502920"/>
          </a:xfrm>
          <a:prstGeom prst="rect">
            <a:avLst/>
          </a:prstGeom>
          <a:solidFill>
            <a:srgbClr val="E8F5E9"/>
          </a:solidFill>
          <a:ln w="12700">
            <a:solidFill>
              <a:srgbClr val="2E7D32"/>
            </a:solidFill>
            <a:prstDash val="solid"/>
          </a:ln>
        </p:spPr>
      </p:sp>
      <p:sp>
        <p:nvSpPr>
          <p:cNvPr id="9" name="Shape 7"/>
          <p:cNvSpPr/>
          <p:nvPr/>
        </p:nvSpPr>
        <p:spPr>
          <a:xfrm>
            <a:off x="320040" y="1143000"/>
            <a:ext cx="1005840" cy="502920"/>
          </a:xfrm>
          <a:prstGeom prst="rect">
            <a:avLst/>
          </a:prstGeom>
          <a:solidFill>
            <a:srgbClr val="2E7D32"/>
          </a:solidFill>
          <a:ln w="12700">
            <a:solidFill>
              <a:srgbClr val="2E7D32"/>
            </a:solidFill>
            <a:prstDash val="solid"/>
          </a:ln>
        </p:spPr>
      </p:sp>
      <p:sp>
        <p:nvSpPr>
          <p:cNvPr id="10" name="Text 8"/>
          <p:cNvSpPr/>
          <p:nvPr/>
        </p:nvSpPr>
        <p:spPr>
          <a:xfrm>
            <a:off x="36576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BIEN</a:t>
            </a:r>
            <a:endParaRPr lang="en-US" sz="1000" dirty="0"/>
          </a:p>
        </p:txBody>
      </p:sp>
      <p:sp>
        <p:nvSpPr>
          <p:cNvPr id="11" name="Text 9"/>
          <p:cNvSpPr/>
          <p:nvPr/>
        </p:nvSpPr>
        <p:spPr>
          <a:xfrm>
            <a:off x="137160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Más de 0.97</a:t>
            </a:r>
            <a:endParaRPr lang="en-US" sz="1100" dirty="0"/>
          </a:p>
        </p:txBody>
      </p:sp>
      <p:sp>
        <p:nvSpPr>
          <p:cNvPr id="12" name="Shape 10"/>
          <p:cNvSpPr/>
          <p:nvPr/>
        </p:nvSpPr>
        <p:spPr>
          <a:xfrm>
            <a:off x="3154680" y="1143000"/>
            <a:ext cx="2743200" cy="502920"/>
          </a:xfrm>
          <a:prstGeom prst="rect">
            <a:avLst/>
          </a:prstGeom>
          <a:solidFill>
            <a:srgbClr val="FFF9C4"/>
          </a:solidFill>
          <a:ln w="12700">
            <a:solidFill>
              <a:srgbClr val="F57F17"/>
            </a:solidFill>
            <a:prstDash val="solid"/>
          </a:ln>
        </p:spPr>
      </p:sp>
      <p:sp>
        <p:nvSpPr>
          <p:cNvPr id="13" name="Shape 11"/>
          <p:cNvSpPr/>
          <p:nvPr/>
        </p:nvSpPr>
        <p:spPr>
          <a:xfrm>
            <a:off x="3154680" y="1143000"/>
            <a:ext cx="1005840" cy="502920"/>
          </a:xfrm>
          <a:prstGeom prst="rect">
            <a:avLst/>
          </a:prstGeom>
          <a:solidFill>
            <a:srgbClr val="F57F17"/>
          </a:solidFill>
          <a:ln w="12700">
            <a:solidFill>
              <a:srgbClr val="F57F17"/>
            </a:solidFill>
            <a:prstDash val="solid"/>
          </a:ln>
        </p:spPr>
      </p:sp>
      <p:sp>
        <p:nvSpPr>
          <p:cNvPr id="14" name="Text 12"/>
          <p:cNvSpPr/>
          <p:nvPr/>
        </p:nvSpPr>
        <p:spPr>
          <a:xfrm>
            <a:off x="320040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ATENCIÓN</a:t>
            </a:r>
            <a:endParaRPr lang="en-US" sz="1000" dirty="0"/>
          </a:p>
        </p:txBody>
      </p:sp>
      <p:sp>
        <p:nvSpPr>
          <p:cNvPr id="15" name="Text 13"/>
          <p:cNvSpPr/>
          <p:nvPr/>
        </p:nvSpPr>
        <p:spPr>
          <a:xfrm>
            <a:off x="420624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Entre 0.93 y 0.97</a:t>
            </a:r>
            <a:endParaRPr lang="en-US" sz="1100" dirty="0"/>
          </a:p>
        </p:txBody>
      </p:sp>
      <p:sp>
        <p:nvSpPr>
          <p:cNvPr id="16" name="Shape 14"/>
          <p:cNvSpPr/>
          <p:nvPr/>
        </p:nvSpPr>
        <p:spPr>
          <a:xfrm>
            <a:off x="5989320" y="1143000"/>
            <a:ext cx="2743200" cy="502920"/>
          </a:xfrm>
          <a:prstGeom prst="rect">
            <a:avLst/>
          </a:prstGeom>
          <a:solidFill>
            <a:srgbClr val="FFEBEE"/>
          </a:solidFill>
          <a:ln w="12700">
            <a:solidFill>
              <a:srgbClr val="C62828"/>
            </a:solidFill>
            <a:prstDash val="solid"/>
          </a:ln>
        </p:spPr>
      </p:sp>
      <p:sp>
        <p:nvSpPr>
          <p:cNvPr id="17" name="Shape 15"/>
          <p:cNvSpPr/>
          <p:nvPr/>
        </p:nvSpPr>
        <p:spPr>
          <a:xfrm>
            <a:off x="5989320" y="1143000"/>
            <a:ext cx="1005840" cy="502920"/>
          </a:xfrm>
          <a:prstGeom prst="rect">
            <a:avLst/>
          </a:prstGeom>
          <a:solidFill>
            <a:srgbClr val="C62828"/>
          </a:solidFill>
          <a:ln w="12700">
            <a:solidFill>
              <a:srgbClr val="C62828"/>
            </a:solidFill>
            <a:prstDash val="solid"/>
          </a:ln>
        </p:spPr>
      </p:sp>
      <p:sp>
        <p:nvSpPr>
          <p:cNvPr id="18" name="Text 16"/>
          <p:cNvSpPr/>
          <p:nvPr/>
        </p:nvSpPr>
        <p:spPr>
          <a:xfrm>
            <a:off x="603504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CRÍTICO</a:t>
            </a:r>
            <a:endParaRPr lang="en-US" sz="1000" dirty="0"/>
          </a:p>
        </p:txBody>
      </p:sp>
      <p:sp>
        <p:nvSpPr>
          <p:cNvPr id="19" name="Text 17"/>
          <p:cNvSpPr/>
          <p:nvPr/>
        </p:nvSpPr>
        <p:spPr>
          <a:xfrm>
            <a:off x="704088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Menos de 0.93</a:t>
            </a:r>
            <a:endParaRPr lang="en-US" sz="1100" dirty="0"/>
          </a:p>
        </p:txBody>
      </p:sp>
      <p:sp>
        <p:nvSpPr>
          <p:cNvPr id="20" name="Shape 18"/>
          <p:cNvSpPr/>
          <p:nvPr/>
        </p:nvSpPr>
        <p:spPr>
          <a:xfrm>
            <a:off x="365760" y="1874520"/>
            <a:ext cx="64008" cy="749808"/>
          </a:xfrm>
          <a:prstGeom prst="rect">
            <a:avLst/>
          </a:prstGeom>
          <a:solidFill>
            <a:srgbClr val="00695C"/>
          </a:solidFill>
          <a:ln w="12700">
            <a:solidFill>
              <a:srgbClr val="00695C"/>
            </a:solidFill>
            <a:prstDash val="solid"/>
          </a:ln>
        </p:spPr>
      </p:sp>
      <p:sp>
        <p:nvSpPr>
          <p:cNvPr id="21" name="Shape 19"/>
          <p:cNvSpPr/>
          <p:nvPr/>
        </p:nvSpPr>
        <p:spPr>
          <a:xfrm>
            <a:off x="429768" y="1874520"/>
            <a:ext cx="8348472" cy="749808"/>
          </a:xfrm>
          <a:prstGeom prst="rect">
            <a:avLst/>
          </a:prstGeom>
          <a:solidFill>
            <a:srgbClr val="E0F2F1"/>
          </a:solidFill>
          <a:ln w="12700">
            <a:solidFill>
              <a:srgbClr val="E0F2F1"/>
            </a:solidFill>
            <a:prstDash val="solid"/>
          </a:ln>
        </p:spPr>
      </p:sp>
      <p:sp>
        <p:nvSpPr>
          <p:cNvPr id="22" name="Text 20"/>
          <p:cNvSpPr/>
          <p:nvPr/>
        </p:nvSpPr>
        <p:spPr>
          <a:xfrm>
            <a:off x="548640" y="187452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Un resultado de 0.986 significa que el sistema está disponible el 98.6% del tiempo. Para una app del colegio eso está muy bien. Pero para un sistema de un hospital o un banco, se necesita cercano a 0.9999 (solo minutos de fallo al año).</a:t>
            </a:r>
            <a:endParaRPr lang="en-US" sz="1300" dirty="0"/>
          </a:p>
        </p:txBody>
      </p:sp>
      <p:sp>
        <p:nvSpPr>
          <p:cNvPr id="23" name="Text 21"/>
          <p:cNvSpPr/>
          <p:nvPr/>
        </p:nvSpPr>
        <p:spPr>
          <a:xfrm>
            <a:off x="365760" y="2788920"/>
            <a:ext cx="457200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¿Qué hacer si está en rojo?</a:t>
            </a:r>
            <a:endParaRPr lang="en-US" sz="1300" dirty="0"/>
          </a:p>
        </p:txBody>
      </p:sp>
      <p:sp>
        <p:nvSpPr>
          <p:cNvPr id="24" name="Text 22"/>
          <p:cNvSpPr/>
          <p:nvPr/>
        </p:nvSpPr>
        <p:spPr>
          <a:xfrm>
            <a:off x="457200" y="3154680"/>
            <a:ext cx="8321040" cy="1645920"/>
          </a:xfrm>
          <a:prstGeom prst="rect">
            <a:avLst/>
          </a:prstGeom>
          <a:noFill/>
          <a:ln/>
        </p:spPr>
        <p:txBody>
          <a:bodyPr wrap="square" rtlCol="0" anchor="t"/>
          <a:lstStyle/>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Investigar por qué el sistema falla con tanta frecuencia — ¿es un problema de servidor, de código o de configuración?</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Reducir el MTTR: preparar un manual de solución de errores comunes para que las reparaciones sean más rápidas</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Agregar pruebas de estrés: ver si el sistema falla cuando muchos usuarios lo usan al mismo tiempo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¿Cómo interpretamos todos los resultados? — El semáforo</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320040" y="1097280"/>
            <a:ext cx="2743200" cy="3566160"/>
          </a:xfrm>
          <a:prstGeom prst="rect">
            <a:avLst/>
          </a:prstGeom>
          <a:solidFill>
            <a:srgbClr val="E8F5E9"/>
          </a:solidFill>
          <a:ln w="25400">
            <a:solidFill>
              <a:srgbClr val="2E7D32"/>
            </a:solidFill>
            <a:prstDash val="solid"/>
          </a:ln>
        </p:spPr>
      </p:sp>
      <p:sp>
        <p:nvSpPr>
          <p:cNvPr id="9" name="Shape 7"/>
          <p:cNvSpPr/>
          <p:nvPr/>
        </p:nvSpPr>
        <p:spPr>
          <a:xfrm>
            <a:off x="1097280" y="1234440"/>
            <a:ext cx="1188720" cy="1188720"/>
          </a:xfrm>
          <a:prstGeom prst="ellipse">
            <a:avLst/>
          </a:prstGeom>
          <a:solidFill>
            <a:srgbClr val="2E7D32"/>
          </a:solidFill>
          <a:ln w="12700">
            <a:solidFill>
              <a:srgbClr val="2E7D32"/>
            </a:solidFill>
            <a:prstDash val="solid"/>
          </a:ln>
        </p:spPr>
      </p:sp>
      <p:sp>
        <p:nvSpPr>
          <p:cNvPr id="10" name="Text 8"/>
          <p:cNvSpPr/>
          <p:nvPr/>
        </p:nvSpPr>
        <p:spPr>
          <a:xfrm>
            <a:off x="320040" y="2606040"/>
            <a:ext cx="2743200" cy="384048"/>
          </a:xfrm>
          <a:prstGeom prst="rect">
            <a:avLst/>
          </a:prstGeom>
          <a:noFill/>
          <a:ln/>
        </p:spPr>
        <p:txBody>
          <a:bodyPr wrap="square" rtlCol="0" anchor="ctr"/>
          <a:lstStyle/>
          <a:p>
            <a:pPr marL="0" indent="0" algn="ctr">
              <a:buNone/>
            </a:pPr>
            <a:r>
              <a:rPr lang="en-US" sz="1500" b="1" dirty="0">
                <a:solidFill>
                  <a:srgbClr val="2E7D32"/>
                </a:solidFill>
                <a:latin typeface="Calibri" pitchFamily="34" charset="0"/>
                <a:ea typeface="Calibri" pitchFamily="34" charset="-122"/>
                <a:cs typeface="Calibri" pitchFamily="34" charset="-120"/>
              </a:rPr>
              <a:t>BIEN</a:t>
            </a:r>
            <a:endParaRPr lang="en-US" sz="1500" dirty="0"/>
          </a:p>
        </p:txBody>
      </p:sp>
      <p:sp>
        <p:nvSpPr>
          <p:cNvPr id="11" name="Text 9"/>
          <p:cNvSpPr/>
          <p:nvPr/>
        </p:nvSpPr>
        <p:spPr>
          <a:xfrm>
            <a:off x="457200" y="3063240"/>
            <a:ext cx="2468880" cy="1463040"/>
          </a:xfrm>
          <a:prstGeom prst="rect">
            <a:avLst/>
          </a:prstGeom>
          <a:noFill/>
          <a:ln/>
        </p:spPr>
        <p:txBody>
          <a:bodyPr wrap="square"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Las métricas están dentro del rango esperado. El proyecto avanza según lo planeado. No hay que hacer cambios urgentes — solo seguir monitoreando.</a:t>
            </a:r>
            <a:endParaRPr lang="en-US" sz="1100" dirty="0"/>
          </a:p>
        </p:txBody>
      </p:sp>
      <p:sp>
        <p:nvSpPr>
          <p:cNvPr id="12" name="Shape 10"/>
          <p:cNvSpPr/>
          <p:nvPr/>
        </p:nvSpPr>
        <p:spPr>
          <a:xfrm>
            <a:off x="3246120" y="1097280"/>
            <a:ext cx="2743200" cy="3566160"/>
          </a:xfrm>
          <a:prstGeom prst="rect">
            <a:avLst/>
          </a:prstGeom>
          <a:solidFill>
            <a:srgbClr val="FFF9C4"/>
          </a:solidFill>
          <a:ln w="25400">
            <a:solidFill>
              <a:srgbClr val="F57F17"/>
            </a:solidFill>
            <a:prstDash val="solid"/>
          </a:ln>
        </p:spPr>
      </p:sp>
      <p:sp>
        <p:nvSpPr>
          <p:cNvPr id="13" name="Shape 11"/>
          <p:cNvSpPr/>
          <p:nvPr/>
        </p:nvSpPr>
        <p:spPr>
          <a:xfrm>
            <a:off x="4023360" y="1234440"/>
            <a:ext cx="1188720" cy="1188720"/>
          </a:xfrm>
          <a:prstGeom prst="ellipse">
            <a:avLst/>
          </a:prstGeom>
          <a:solidFill>
            <a:srgbClr val="F57F17"/>
          </a:solidFill>
          <a:ln w="12700">
            <a:solidFill>
              <a:srgbClr val="F57F17"/>
            </a:solidFill>
            <a:prstDash val="solid"/>
          </a:ln>
        </p:spPr>
      </p:sp>
      <p:sp>
        <p:nvSpPr>
          <p:cNvPr id="14" name="Text 12"/>
          <p:cNvSpPr/>
          <p:nvPr/>
        </p:nvSpPr>
        <p:spPr>
          <a:xfrm>
            <a:off x="3246120" y="2606040"/>
            <a:ext cx="2743200" cy="384048"/>
          </a:xfrm>
          <a:prstGeom prst="rect">
            <a:avLst/>
          </a:prstGeom>
          <a:noFill/>
          <a:ln/>
        </p:spPr>
        <p:txBody>
          <a:bodyPr wrap="square" rtlCol="0" anchor="ctr"/>
          <a:lstStyle/>
          <a:p>
            <a:pPr marL="0" indent="0" algn="ctr">
              <a:buNone/>
            </a:pPr>
            <a:r>
              <a:rPr lang="en-US" sz="1500" b="1" dirty="0">
                <a:solidFill>
                  <a:srgbClr val="F57F17"/>
                </a:solidFill>
                <a:latin typeface="Calibri" pitchFamily="34" charset="0"/>
                <a:ea typeface="Calibri" pitchFamily="34" charset="-122"/>
                <a:cs typeface="Calibri" pitchFamily="34" charset="-120"/>
              </a:rPr>
              <a:t>ATENCIÓN</a:t>
            </a:r>
            <a:endParaRPr lang="en-US" sz="1500" dirty="0"/>
          </a:p>
        </p:txBody>
      </p:sp>
      <p:sp>
        <p:nvSpPr>
          <p:cNvPr id="15" name="Text 13"/>
          <p:cNvSpPr/>
          <p:nvPr/>
        </p:nvSpPr>
        <p:spPr>
          <a:xfrm>
            <a:off x="3383280" y="3063240"/>
            <a:ext cx="2468880" cy="1463040"/>
          </a:xfrm>
          <a:prstGeom prst="rect">
            <a:avLst/>
          </a:prstGeom>
          <a:noFill/>
          <a:ln/>
        </p:spPr>
        <p:txBody>
          <a:bodyPr wrap="square"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Algo está saliendo del rango normal. No es una crisis todavía, pero el equipo debe revisarlo en la próxima reunión y tomar medidas preventivas.</a:t>
            </a:r>
            <a:endParaRPr lang="en-US" sz="1100" dirty="0"/>
          </a:p>
        </p:txBody>
      </p:sp>
      <p:sp>
        <p:nvSpPr>
          <p:cNvPr id="16" name="Shape 14"/>
          <p:cNvSpPr/>
          <p:nvPr/>
        </p:nvSpPr>
        <p:spPr>
          <a:xfrm>
            <a:off x="6172200" y="1097280"/>
            <a:ext cx="2743200" cy="3566160"/>
          </a:xfrm>
          <a:prstGeom prst="rect">
            <a:avLst/>
          </a:prstGeom>
          <a:solidFill>
            <a:srgbClr val="FFEBEE"/>
          </a:solidFill>
          <a:ln w="25400">
            <a:solidFill>
              <a:srgbClr val="C62828"/>
            </a:solidFill>
            <a:prstDash val="solid"/>
          </a:ln>
        </p:spPr>
      </p:sp>
      <p:sp>
        <p:nvSpPr>
          <p:cNvPr id="17" name="Shape 15"/>
          <p:cNvSpPr/>
          <p:nvPr/>
        </p:nvSpPr>
        <p:spPr>
          <a:xfrm>
            <a:off x="6949440" y="1234440"/>
            <a:ext cx="1188720" cy="1188720"/>
          </a:xfrm>
          <a:prstGeom prst="ellipse">
            <a:avLst/>
          </a:prstGeom>
          <a:solidFill>
            <a:srgbClr val="C62828"/>
          </a:solidFill>
          <a:ln w="12700">
            <a:solidFill>
              <a:srgbClr val="C62828"/>
            </a:solidFill>
            <a:prstDash val="solid"/>
          </a:ln>
        </p:spPr>
      </p:sp>
      <p:sp>
        <p:nvSpPr>
          <p:cNvPr id="18" name="Text 16"/>
          <p:cNvSpPr/>
          <p:nvPr/>
        </p:nvSpPr>
        <p:spPr>
          <a:xfrm>
            <a:off x="6172200" y="2606040"/>
            <a:ext cx="2743200" cy="384048"/>
          </a:xfrm>
          <a:prstGeom prst="rect">
            <a:avLst/>
          </a:prstGeom>
          <a:noFill/>
          <a:ln/>
        </p:spPr>
        <p:txBody>
          <a:bodyPr wrap="square" rtlCol="0" anchor="ctr"/>
          <a:lstStyle/>
          <a:p>
            <a:pPr marL="0" indent="0" algn="ctr">
              <a:buNone/>
            </a:pPr>
            <a:r>
              <a:rPr lang="en-US" sz="1500" b="1" dirty="0">
                <a:solidFill>
                  <a:srgbClr val="C62828"/>
                </a:solidFill>
                <a:latin typeface="Calibri" pitchFamily="34" charset="0"/>
                <a:ea typeface="Calibri" pitchFamily="34" charset="-122"/>
                <a:cs typeface="Calibri" pitchFamily="34" charset="-120"/>
              </a:rPr>
              <a:t>CRÍTICO</a:t>
            </a:r>
            <a:endParaRPr lang="en-US" sz="1500" dirty="0"/>
          </a:p>
        </p:txBody>
      </p:sp>
      <p:sp>
        <p:nvSpPr>
          <p:cNvPr id="19" name="Text 17"/>
          <p:cNvSpPr/>
          <p:nvPr/>
        </p:nvSpPr>
        <p:spPr>
          <a:xfrm>
            <a:off x="6309360" y="3063240"/>
            <a:ext cx="2468880" cy="1463040"/>
          </a:xfrm>
          <a:prstGeom prst="rect">
            <a:avLst/>
          </a:prstGeom>
          <a:noFill/>
          <a:ln/>
        </p:spPr>
        <p:txBody>
          <a:bodyPr wrap="square"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El proyecto tiene un problema serio que necesita atención inmediata. Si no se actúa ahora, puede afectar la calidad del entregable o la fecha de entrega.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565C0"/>
          </a:solidFill>
          <a:ln w="12700">
            <a:solidFill>
              <a:srgbClr val="1565C0"/>
            </a:solidFill>
            <a:prstDash val="solid"/>
          </a:ln>
        </p:spPr>
      </p:sp>
      <p:sp>
        <p:nvSpPr>
          <p:cNvPr id="3" name="Shape 1"/>
          <p:cNvSpPr/>
          <p:nvPr/>
        </p:nvSpPr>
        <p:spPr>
          <a:xfrm>
            <a:off x="0" y="3474720"/>
            <a:ext cx="9144000" cy="1668780"/>
          </a:xfrm>
          <a:prstGeom prst="rect">
            <a:avLst/>
          </a:prstGeom>
          <a:solidFill>
            <a:srgbClr val="0D47A1"/>
          </a:solidFill>
          <a:ln w="12700">
            <a:solidFill>
              <a:srgbClr val="0D47A1"/>
            </a:solidFill>
            <a:prstDash val="solid"/>
          </a:ln>
        </p:spPr>
      </p:sp>
      <p:sp>
        <p:nvSpPr>
          <p:cNvPr id="4" name="Text 2"/>
          <p:cNvSpPr/>
          <p:nvPr/>
        </p:nvSpPr>
        <p:spPr>
          <a:xfrm>
            <a:off x="548640" y="822960"/>
            <a:ext cx="8046720" cy="457200"/>
          </a:xfrm>
          <a:prstGeom prst="rect">
            <a:avLst/>
          </a:prstGeom>
          <a:noFill/>
          <a:ln/>
        </p:spPr>
        <p:txBody>
          <a:bodyPr wrap="square" rtlCol="0" anchor="ctr"/>
          <a:lstStyle/>
          <a:p>
            <a:pPr marL="0" indent="0" algn="ctr">
              <a:buNone/>
            </a:pPr>
            <a:r>
              <a:rPr lang="en-US" sz="1800" dirty="0">
                <a:solidFill>
                  <a:srgbClr val="BBDEFB"/>
                </a:solidFill>
                <a:latin typeface="Calibri" pitchFamily="34" charset="0"/>
                <a:ea typeface="Calibri" pitchFamily="34" charset="-122"/>
                <a:cs typeface="Calibri" pitchFamily="34" charset="-120"/>
              </a:rPr>
              <a:t>Recordá siempre:</a:t>
            </a:r>
            <a:endParaRPr lang="en-US" sz="1800" dirty="0"/>
          </a:p>
        </p:txBody>
      </p:sp>
      <p:sp>
        <p:nvSpPr>
          <p:cNvPr id="5" name="Text 3"/>
          <p:cNvSpPr/>
          <p:nvPr/>
        </p:nvSpPr>
        <p:spPr>
          <a:xfrm>
            <a:off x="548640" y="1325880"/>
            <a:ext cx="8046720" cy="11887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Las métricas no son para castigar</a:t>
            </a:r>
            <a:endParaRPr lang="en-US" sz="3200" dirty="0"/>
          </a:p>
          <a:p>
            <a:pPr marL="0" indent="0" algn="ctr">
              <a:buNone/>
            </a:pPr>
            <a:r>
              <a:rPr lang="en-US" sz="3200" b="1" dirty="0">
                <a:solidFill>
                  <a:srgbClr val="FFFFFF"/>
                </a:solidFill>
                <a:latin typeface="Calibri" pitchFamily="34" charset="0"/>
                <a:ea typeface="Calibri" pitchFamily="34" charset="-122"/>
                <a:cs typeface="Calibri" pitchFamily="34" charset="-120"/>
              </a:rPr>
              <a:t>al equipo — son para mejorar.</a:t>
            </a:r>
            <a:endParaRPr lang="en-US" sz="3200" dirty="0"/>
          </a:p>
        </p:txBody>
      </p:sp>
      <p:sp>
        <p:nvSpPr>
          <p:cNvPr id="6" name="Text 4"/>
          <p:cNvSpPr/>
          <p:nvPr/>
        </p:nvSpPr>
        <p:spPr>
          <a:xfrm>
            <a:off x="914400" y="2743200"/>
            <a:ext cx="7315200" cy="640080"/>
          </a:xfrm>
          <a:prstGeom prst="rect">
            <a:avLst/>
          </a:prstGeom>
          <a:noFill/>
          <a:ln/>
        </p:spPr>
        <p:txBody>
          <a:bodyPr wrap="square" rtlCol="0" anchor="ctr"/>
          <a:lstStyle/>
          <a:p>
            <a:pPr marL="0" indent="0" algn="ctr">
              <a:buNone/>
            </a:pPr>
            <a:r>
              <a:rPr lang="en-US" sz="1400" dirty="0">
                <a:solidFill>
                  <a:srgbClr val="BBDEFB"/>
                </a:solidFill>
                <a:latin typeface="Calibri" pitchFamily="34" charset="0"/>
                <a:ea typeface="Calibri" pitchFamily="34" charset="-122"/>
                <a:cs typeface="Calibri" pitchFamily="34" charset="-120"/>
              </a:rPr>
              <a:t>Un número en rojo no significa que el equipo fracasó.</a:t>
            </a:r>
            <a:endParaRPr lang="en-US" sz="1400" dirty="0"/>
          </a:p>
          <a:p>
            <a:pPr marL="0" indent="0" algn="ctr">
              <a:buNone/>
            </a:pPr>
            <a:r>
              <a:rPr lang="en-US" sz="1400" dirty="0">
                <a:solidFill>
                  <a:srgbClr val="BBDEFB"/>
                </a:solidFill>
                <a:latin typeface="Calibri" pitchFamily="34" charset="0"/>
                <a:ea typeface="Calibri" pitchFamily="34" charset="-122"/>
                <a:cs typeface="Calibri" pitchFamily="34" charset="-120"/>
              </a:rPr>
              <a:t>Significa que encontramos algo concreto que podemos mejorar en el próximo sprint.</a:t>
            </a:r>
            <a:endParaRPr lang="en-US" sz="1400" dirty="0"/>
          </a:p>
        </p:txBody>
      </p:sp>
      <p:sp>
        <p:nvSpPr>
          <p:cNvPr id="7" name="Text 5"/>
          <p:cNvSpPr/>
          <p:nvPr/>
        </p:nvSpPr>
        <p:spPr>
          <a:xfrm>
            <a:off x="548640" y="3703320"/>
            <a:ext cx="80467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¿Preguntas antes de empezar la actividad?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1725</Words>
  <Application>Microsoft Office PowerPoint</Application>
  <PresentationFormat>Presentación en pantalla (16:9)</PresentationFormat>
  <Paragraphs>197</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Métricas de Software — Lección 1</dc:title>
  <dc:subject>PptxGenJS Presentation</dc:subject>
  <dc:creator>PptxGenJS</dc:creator>
  <cp:lastModifiedBy>antoyefruizg04@gmail.com</cp:lastModifiedBy>
  <cp:revision>2</cp:revision>
  <dcterms:created xsi:type="dcterms:W3CDTF">2026-03-13T22:32:22Z</dcterms:created>
  <dcterms:modified xsi:type="dcterms:W3CDTF">2026-04-21T12:29:26Z</dcterms:modified>
</cp:coreProperties>
</file>