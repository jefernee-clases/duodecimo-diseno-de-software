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E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0"/>
            <a:ext cx="877824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822960"/>
            <a:ext cx="3200400" cy="1371600"/>
          </a:xfrm>
          <a:prstGeom prst="rect">
            <a:avLst/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82296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</a:rPr>
              <a:t>PERT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Técnica de Estimación por Tres Valores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29718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8C8E0"/>
                </a:solidFill>
              </a:rPr>
              <a:t>Aprende a estimar tiempos con lógica, no con suposiciones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3520440"/>
            <a:ext cx="457200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7490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8C8E0"/>
                </a:solidFill>
              </a:rPr>
              <a:t>Diseño de Software  |  Décimo Segundo Año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0" y="100584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52360" y="10515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Optimista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0" y="1920240"/>
            <a:ext cx="502920" cy="502920"/>
          </a:xfrm>
          <a:prstGeom prst="ellipse">
            <a:avLst/>
          </a:prstGeom>
          <a:solidFill>
            <a:srgbClr val="F5D020"/>
          </a:solidFill>
          <a:ln w="12700">
            <a:solidFill>
              <a:srgbClr val="F5D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52360" y="19659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Probable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0" y="2834640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52360" y="28803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Pesimista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2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¿Qué es PERT?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234440"/>
          </a:xfrm>
          <a:prstGeom prst="rect">
            <a:avLst/>
          </a:prstGeom>
          <a:solidFill>
            <a:srgbClr val="2D1B69"/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D020"/>
                </a:solidFill>
              </a:rPr>
              <a:t>PERT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 significa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Program Evaluation and Review Technique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 (Técnica de Evaluación y Revisión de Programas).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8E0"/>
                </a:solidFill>
              </a:rPr>
              <a:t>Surgió en la década de 1950 y es ampliamente utilizada en ingeniería de software para estimar el tiempo que tomará completar una tarea, reconociendo que las estimaciones rara vez son exactas.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423160"/>
            <a:ext cx="2651760" cy="2240280"/>
          </a:xfrm>
          <a:prstGeom prst="rect">
            <a:avLst/>
          </a:prstGeom>
          <a:solidFill>
            <a:srgbClr val="1C1C42"/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5146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💡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30632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D020"/>
                </a:solidFill>
              </a:rPr>
              <a:t>Reconoce la incertidumbre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52044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8E0"/>
                </a:solidFill>
              </a:rPr>
              <a:t>Ninguna tarea tiene una duración garantizada. PERT lo acepta y trabaja con rangos.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2423160"/>
            <a:ext cx="2651760" cy="2240280"/>
          </a:xfrm>
          <a:prstGeom prst="rect">
            <a:avLst/>
          </a:prstGeom>
          <a:solidFill>
            <a:srgbClr val="1C1C42"/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25146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⚖️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383280" y="30632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D020"/>
                </a:solidFill>
              </a:rPr>
              <a:t>Pondera el escenario real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352044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8E0"/>
                </a:solidFill>
              </a:rPr>
              <a:t>Da más peso al caso más probable, reduciendo el sesgo optimista o catastrófico.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2423160"/>
            <a:ext cx="2651760" cy="2240280"/>
          </a:xfrm>
          <a:prstGeom prst="rect">
            <a:avLst/>
          </a:prstGeom>
          <a:solidFill>
            <a:srgbClr val="1C1C42"/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25146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217920" y="30632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D020"/>
                </a:solidFill>
              </a:rPr>
              <a:t>Produce un estimado confiable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0" y="352044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8E0"/>
                </a:solidFill>
              </a:rPr>
              <a:t>El resultado es un tiempo ponderado que el equipo puede defender ante el cliente.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Los Tres Escenarios de Estimación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C8E0"/>
                </a:solidFill>
              </a:rPr>
              <a:t>Para cada tarea del proyecto, el equipo debe proponer tres estimaciones de tiempo: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2697480" cy="3383280"/>
          </a:xfrm>
          <a:prstGeom prst="rect">
            <a:avLst/>
          </a:prstGeom>
          <a:solidFill>
            <a:srgbClr val="0D333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325880"/>
            <a:ext cx="269748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25880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371600" y="132588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Optimista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75488" y="2084832"/>
            <a:ext cx="2487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¿Cuánto tardaría si todo sale perfecto?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2606040"/>
            <a:ext cx="248716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C8E0"/>
                </a:solidFill>
              </a:rPr>
              <a:t>No hay problemas técnicos, el equipo es experto en la tecnología, los requisitos están completamente claros y no existen interrupciones.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" y="3904488"/>
            <a:ext cx="2487168" cy="640080"/>
          </a:xfrm>
          <a:prstGeom prst="rect">
            <a:avLst/>
          </a:prstGeom>
          <a:solidFill>
            <a:srgbClr val="0A0A1E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395020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Ejemplo: desarrollar el formulario de registro en 1 día.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325880"/>
            <a:ext cx="2697480" cy="3383280"/>
          </a:xfrm>
          <a:prstGeom prst="rect">
            <a:avLst/>
          </a:prstGeom>
          <a:solidFill>
            <a:srgbClr val="3D3000"/>
          </a:solidFill>
          <a:ln w="12700">
            <a:solidFill>
              <a:srgbClr val="F5D02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325880"/>
            <a:ext cx="2697480" cy="658368"/>
          </a:xfrm>
          <a:prstGeom prst="rect">
            <a:avLst/>
          </a:prstGeom>
          <a:solidFill>
            <a:srgbClr val="F5D020"/>
          </a:solidFill>
          <a:ln w="12700">
            <a:solidFill>
              <a:srgbClr val="F5D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1325880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M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251960" y="132588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Más Probable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355848" y="2084832"/>
            <a:ext cx="2487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D020"/>
                </a:solidFill>
              </a:rPr>
              <a:t>¿Cuánto tardaría en condiciones normales?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55848" y="2606040"/>
            <a:ext cx="248716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C8E0"/>
                </a:solidFill>
              </a:rPr>
              <a:t>El escenario que el equipo considera más realista. Puede haber algún pequeño inconveniente pero nada que detenga el avance significativamente.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355848" y="3904488"/>
            <a:ext cx="2487168" cy="640080"/>
          </a:xfrm>
          <a:prstGeom prst="rect">
            <a:avLst/>
          </a:prstGeom>
          <a:solidFill>
            <a:srgbClr val="0A0A1E"/>
          </a:solidFill>
          <a:ln w="12700">
            <a:solidFill>
              <a:srgbClr val="F5D0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10712" y="395020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Ejemplo: desarrollar el formulario de registro en 3 días.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1325880"/>
            <a:ext cx="2697480" cy="3383280"/>
          </a:xfrm>
          <a:prstGeom prst="rect">
            <a:avLst/>
          </a:prstGeom>
          <a:solidFill>
            <a:srgbClr val="3D0A0A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26480" y="1325880"/>
            <a:ext cx="2697480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0" y="1325880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7132320" y="132588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Pesimista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236208" y="2084832"/>
            <a:ext cx="2487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¿Cuánto tardaría si todo sale mal?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36208" y="2606040"/>
            <a:ext cx="248716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C8E0"/>
                </a:solidFill>
              </a:rPr>
              <a:t>Errores inesperados, cambios de requisitos, problemas de integración, ausencia de algún miembro del equipo o fallas en el entorno de desarrollo.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36208" y="3904488"/>
            <a:ext cx="2487168" cy="640080"/>
          </a:xfrm>
          <a:prstGeom prst="rect">
            <a:avLst/>
          </a:prstGeom>
          <a:solidFill>
            <a:srgbClr val="0A0A1E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91072" y="395020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Ejemplo: desarrollar el formulario de registro en 8 días.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2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La Fórmula PERT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371600" y="960120"/>
            <a:ext cx="6400800" cy="1188720"/>
          </a:xfrm>
          <a:prstGeom prst="rect">
            <a:avLst/>
          </a:prstGeom>
          <a:solidFill>
            <a:srgbClr val="2D1B69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96012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  =  ( O  +  4M  +  P )  ÷  6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2377440"/>
            <a:ext cx="640080" cy="5486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3774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1E"/>
                </a:solidFill>
              </a:rPr>
              <a:t>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2423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8E0"/>
                </a:solidFill>
              </a:rPr>
              <a:t>Estimado ponderado (el resultado final)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182112"/>
            <a:ext cx="64008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18211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1E"/>
                </a:solidFill>
              </a:rPr>
              <a:t>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322783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8E0"/>
                </a:solidFill>
              </a:rPr>
              <a:t>Tiempo optimista (si todo sale perfecto)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986784"/>
            <a:ext cx="640080" cy="548640"/>
          </a:xfrm>
          <a:prstGeom prst="rect">
            <a:avLst/>
          </a:prstGeom>
          <a:solidFill>
            <a:srgbClr val="F5D020"/>
          </a:solidFill>
          <a:ln w="12700">
            <a:solidFill>
              <a:srgbClr val="F5D0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986784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1E"/>
                </a:solidFill>
              </a:rPr>
              <a:t>M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4032504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8E0"/>
                </a:solidFill>
              </a:rPr>
              <a:t>Tiempo más probable (caso normal)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46320" y="2377440"/>
            <a:ext cx="640080" cy="548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23774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1E"/>
                </a:solidFill>
              </a:rPr>
              <a:t>P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577840" y="2423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8E0"/>
                </a:solidFill>
              </a:rPr>
              <a:t>Tiempo pesimista (si todo sale mal)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46320" y="3182112"/>
            <a:ext cx="640080" cy="5486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318211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577840" y="322783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8E0"/>
                </a:solidFill>
              </a:rPr>
              <a:t>Factor de peso: le da cuatro veces más importancia al caso más probable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3986784"/>
            <a:ext cx="640080" cy="548640"/>
          </a:xfrm>
          <a:prstGeom prst="rect">
            <a:avLst/>
          </a:prstGeom>
          <a:solidFill>
            <a:srgbClr val="1C1C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986784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÷ 6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577840" y="4032504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8E0"/>
                </a:solidFill>
              </a:rPr>
              <a:t>Se divide entre 6 porque la suma O + 4M + P tiene seis partes en total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solidFill>
            <a:srgbClr val="14532D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681728"/>
            <a:ext cx="7955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📌  Nota: el valor 4 amplifica el escenario más probable porque representa la realidad habitual del proyecto.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2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Ejemplo 1: El Viaje en Autobús al Colegio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8E0"/>
                </a:solidFill>
              </a:rPr>
              <a:t>Situación: ¿cuánto tarda el viaje en autobús desde casa hasta el colegio?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1737360"/>
        </p:xfrm>
        <a:graphic>
          <a:graphicData uri="http://schemas.openxmlformats.org/drawingml/2006/table">
            <a:tbl>
              <a:tblPr/>
              <a:tblGrid>
                <a:gridCol w="2103120"/>
                <a:gridCol w="4572000"/>
                <a:gridCol w="1554480"/>
              </a:tblGrid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Escenario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3FC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Condición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3FC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Tiempo estimado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3FC5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D9488"/>
                          </a:solidFill>
                        </a:rPr>
                        <a:t>Optimista  (O)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Sin tráfico, autobús puntual, asiento disponible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D9488"/>
                          </a:solidFill>
                        </a:rPr>
                        <a:t>15 minutos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330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5D020"/>
                          </a:solidFill>
                        </a:rPr>
                        <a:t>Más Probable (M)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Tráfico normal, alguna parada adicional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5D020"/>
                          </a:solidFill>
                        </a:rPr>
                        <a:t>25 minutos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000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C2626"/>
                          </a:solidFill>
                        </a:rPr>
                        <a:t>Pesimista   (P)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Accidente, desvío de ruta, autobús lleno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C2626"/>
                          </a:solidFill>
                        </a:rPr>
                        <a:t>50 minutos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0A0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0906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Aplicación de la fórmula — paso a paso: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57200" y="3502152"/>
            <a:ext cx="8229600" cy="347472"/>
          </a:xfrm>
          <a:prstGeom prst="rect">
            <a:avLst/>
          </a:prstGeom>
          <a:solidFill>
            <a:srgbClr val="17173A"/>
          </a:solidFill>
          <a:ln w="12700">
            <a:solidFill>
              <a:srgbClr val="2A2A5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352044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51560" y="3520440"/>
            <a:ext cx="7498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Sustituir los valores:   E = ( 15  +  4 × 25  +  50 )  ÷  6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3886200"/>
            <a:ext cx="8229600" cy="347472"/>
          </a:xfrm>
          <a:prstGeom prst="rect">
            <a:avLst/>
          </a:prstGeom>
          <a:solidFill>
            <a:srgbClr val="17173A"/>
          </a:solidFill>
          <a:ln w="12700">
            <a:solidFill>
              <a:srgbClr val="2A2A5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0352" y="3904488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</a:rPr>
              <a:t>02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51560" y="3904488"/>
            <a:ext cx="7498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Resolver la multiplicación:   4 × 25  =  100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4270248"/>
            <a:ext cx="8229600" cy="347472"/>
          </a:xfrm>
          <a:prstGeom prst="rect">
            <a:avLst/>
          </a:prstGeom>
          <a:solidFill>
            <a:srgbClr val="17173A"/>
          </a:solidFill>
          <a:ln w="12700">
            <a:solidFill>
              <a:srgbClr val="2A2A5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0352" y="4288536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</a:rPr>
              <a:t>03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051560" y="4288536"/>
            <a:ext cx="7498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Sumar el numerador:   15  +  100  +  50  =  165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7200" y="4654296"/>
            <a:ext cx="8229600" cy="347472"/>
          </a:xfrm>
          <a:prstGeom prst="rect">
            <a:avLst/>
          </a:prstGeom>
          <a:solidFill>
            <a:srgbClr val="2D1B69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0352" y="4672584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</a:rPr>
              <a:t>04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051560" y="4672584"/>
            <a:ext cx="7498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D020"/>
                </a:solidFill>
              </a:rPr>
              <a:t>Dividir entre 6:   165  ÷  6  =  27.5 minutos  ✅  Resultado final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Ejemplo 2: Sistema de Reservas para una Biblioteca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5895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8C8E0"/>
                </a:solidFill>
              </a:rPr>
              <a:t>El equipo debe estimar el tiempo (en días) para desarrollar cada módulo del sistema. Aplicarán PERT a cuatro tareas principales:</a:t>
            </a:r>
            <a:endParaRPr lang="en-US" sz="13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98448"/>
          <a:ext cx="8412480" cy="2148840"/>
        </p:xfrm>
        <a:graphic>
          <a:graphicData uri="http://schemas.openxmlformats.org/drawingml/2006/table">
            <a:tbl>
              <a:tblPr/>
              <a:tblGrid>
                <a:gridCol w="2834640"/>
                <a:gridCol w="1097280"/>
                <a:gridCol w="1371600"/>
                <a:gridCol w="1097280"/>
                <a:gridCol w="2926080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Módulo / Tarea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3FC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(optimista)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3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(más probable)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(pesimista)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0A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 = (O + 4M + P) ÷ 6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Diseño de la base de datos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D9488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5D020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C2626"/>
                          </a:solidFill>
                        </a:rPr>
                        <a:t>7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5D020"/>
                          </a:solidFill>
                        </a:rPr>
                        <a:t>3.0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Módulo de registro de usuarios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D9488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5D020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C2626"/>
                          </a:solidFill>
                        </a:rPr>
                        <a:t>10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5D020"/>
                          </a:solidFill>
                        </a:rPr>
                        <a:t>4.7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Módulo de búsqueda de libros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D9488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5D020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C2626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5D020"/>
                          </a:solidFill>
                        </a:rPr>
                        <a:t>3.2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Módulo de reservas y devoluciones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D9488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5D020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C2626"/>
                          </a:solidFill>
                        </a:rPr>
                        <a:t>12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5D020"/>
                          </a:solidFill>
                        </a:rPr>
                        <a:t>5.8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3584448"/>
            <a:ext cx="8412480" cy="292608"/>
          </a:xfrm>
          <a:prstGeom prst="rect">
            <a:avLst/>
          </a:prstGeom>
          <a:solidFill>
            <a:srgbClr val="1C1C42"/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360273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🔎  Verifiquemos juntos el cálculo del último módulo (Reservas y Devoluciones):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3886200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8E0"/>
                </a:solidFill>
              </a:rPr>
              <a:t>1.  E = ( 3  +  4 × 5  +  12 )  ÷  6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4133088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8E0"/>
                </a:solidFill>
              </a:rPr>
              <a:t>2.  E = ( 3  +  20  +  12 )  ÷  6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4379976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8E0"/>
                </a:solidFill>
              </a:rPr>
              <a:t>3.  E = 35  ÷  6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4626864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D020"/>
                </a:solidFill>
              </a:rPr>
              <a:t>✅  E ≈  5.8 días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365760" y="489204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Suma total estimada del proyecto: 3.0 + 4.7 + 3.2 + 5.8  =  16.7 días de desarrollo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2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Guía: ¿Cómo aplicar PERT en tu proyecto?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05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A1E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21792" y="1572768"/>
            <a:ext cx="45720" cy="256032"/>
          </a:xfrm>
          <a:prstGeom prst="rect">
            <a:avLst/>
          </a:prstGeom>
          <a:solidFill>
            <a:srgbClr val="3A3A5E"/>
          </a:solidFill>
          <a:ln w="12700">
            <a:solidFill>
              <a:srgbClr val="3A3A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960120"/>
            <a:ext cx="7589520" cy="713232"/>
          </a:xfrm>
          <a:prstGeom prst="rect">
            <a:avLst/>
          </a:prstGeom>
          <a:solidFill>
            <a:srgbClr val="17173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996696"/>
            <a:ext cx="7223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Lista todas las tareas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28016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8E0"/>
                </a:solidFill>
              </a:rPr>
              <a:t>Desglosa el proyecto en módulos o actividades concretas. Cada tarea debe ser lo suficientemente pequeña para estimarla de forma individual.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810512"/>
            <a:ext cx="548640" cy="548640"/>
          </a:xfrm>
          <a:prstGeom prst="ellipse">
            <a:avLst/>
          </a:prstGeom>
          <a:solidFill>
            <a:srgbClr val="F5D020"/>
          </a:solidFill>
          <a:ln w="12700">
            <a:solidFill>
              <a:srgbClr val="F5D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8105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A1E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21792" y="2377440"/>
            <a:ext cx="45720" cy="256032"/>
          </a:xfrm>
          <a:prstGeom prst="rect">
            <a:avLst/>
          </a:prstGeom>
          <a:solidFill>
            <a:srgbClr val="3A3A5E"/>
          </a:solidFill>
          <a:ln w="12700">
            <a:solidFill>
              <a:srgbClr val="3A3A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7280" y="1764792"/>
            <a:ext cx="7589520" cy="713232"/>
          </a:xfrm>
          <a:prstGeom prst="rect">
            <a:avLst/>
          </a:prstGeom>
          <a:solidFill>
            <a:srgbClr val="17173A"/>
          </a:solidFill>
          <a:ln w="12700">
            <a:solidFill>
              <a:srgbClr val="F5D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4440" y="1801368"/>
            <a:ext cx="7223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D020"/>
                </a:solidFill>
              </a:rPr>
              <a:t>Propón los tres escenarios para cada tarea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2084832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8E0"/>
                </a:solidFill>
              </a:rPr>
              <a:t>Discute con el equipo cuánto tomaría en el mejor caso (O), en el peor caso (P) y en condiciones normales (M).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615184"/>
            <a:ext cx="548640" cy="5486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6151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A1E"/>
                </a:solidFill>
              </a:rPr>
              <a:t>3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21792" y="3182112"/>
            <a:ext cx="45720" cy="256032"/>
          </a:xfrm>
          <a:prstGeom prst="rect">
            <a:avLst/>
          </a:prstGeom>
          <a:solidFill>
            <a:srgbClr val="3A3A5E"/>
          </a:solidFill>
          <a:ln w="12700">
            <a:solidFill>
              <a:srgbClr val="3A3A5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7280" y="2569464"/>
            <a:ext cx="7589520" cy="713232"/>
          </a:xfrm>
          <a:prstGeom prst="rect">
            <a:avLst/>
          </a:prstGeom>
          <a:solidFill>
            <a:srgbClr val="17173A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34440" y="2606040"/>
            <a:ext cx="7223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</a:rPr>
              <a:t>Aplica la fórmula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34440" y="2889504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8E0"/>
                </a:solidFill>
              </a:rPr>
              <a:t>Calcula  E = ( O + 4M + P ) ÷ 6  para cada tarea. Redondea al decimal más cercano si el resultado no es un número entero.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419856"/>
            <a:ext cx="548640" cy="5486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4198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A1E"/>
                </a:solidFill>
              </a:rPr>
              <a:t>4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21792" y="3986784"/>
            <a:ext cx="45720" cy="256032"/>
          </a:xfrm>
          <a:prstGeom prst="rect">
            <a:avLst/>
          </a:prstGeom>
          <a:solidFill>
            <a:srgbClr val="3A3A5E"/>
          </a:solidFill>
          <a:ln w="12700">
            <a:solidFill>
              <a:srgbClr val="3A3A5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7280" y="3374136"/>
            <a:ext cx="7589520" cy="713232"/>
          </a:xfrm>
          <a:prstGeom prst="rect">
            <a:avLst/>
          </a:prstGeom>
          <a:solidFill>
            <a:srgbClr val="17173A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34440" y="3410712"/>
            <a:ext cx="7223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Suma los estimados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34440" y="3694176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8E0"/>
                </a:solidFill>
              </a:rPr>
              <a:t>Agrega todos los valores E de cada tarea para obtener el tiempo total estimado del proyecto.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4224528"/>
            <a:ext cx="548640" cy="5486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2245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A1E"/>
                </a:solidFill>
              </a:rPr>
              <a:t>5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1097280" y="4178808"/>
            <a:ext cx="7589520" cy="713232"/>
          </a:xfrm>
          <a:prstGeom prst="rect">
            <a:avLst/>
          </a:prstGeom>
          <a:solidFill>
            <a:srgbClr val="17173A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34440" y="4215384"/>
            <a:ext cx="7223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</a:rPr>
              <a:t>Incluye una reserva de contingencia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234440" y="4498848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8E0"/>
                </a:solidFill>
              </a:rPr>
              <a:t>Suma entre un 10% y un 20% adicional al total, para cubrir imprevistos no considerados en la estimación.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Técnica PERT: Estimación por Tres Valores</dc:title>
  <dc:subject>PptxGenJS Presentation</dc:subject>
  <dc:creator>PptxGenJS</dc:creator>
  <cp:lastModifiedBy>PptxGenJS</cp:lastModifiedBy>
  <cp:revision>1</cp:revision>
  <dcterms:created xsi:type="dcterms:W3CDTF">2026-05-05T17:09:00Z</dcterms:created>
  <dcterms:modified xsi:type="dcterms:W3CDTF">2026-05-05T17:09:00Z</dcterms:modified>
</cp:coreProperties>
</file>