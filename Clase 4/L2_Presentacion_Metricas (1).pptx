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0584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Integración en el Proceso de Software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926080"/>
            <a:ext cx="5029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2  •  Duodécimos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4663440"/>
            <a:ext cx="109728" cy="109728"/>
          </a:xfrm>
          <a:prstGeom prst="ellipse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663440"/>
            <a:ext cx="109728" cy="109728"/>
          </a:xfrm>
          <a:prstGeom prst="ellipse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663440"/>
            <a:ext cx="109728" cy="109728"/>
          </a:xfrm>
          <a:prstGeom prst="ellipse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4663440"/>
            <a:ext cx="109728" cy="109728"/>
          </a:xfrm>
          <a:prstGeom prst="ellipse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4663440"/>
            <a:ext cx="109728" cy="109728"/>
          </a:xfrm>
          <a:prstGeom prst="ellipse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las métricas de proyecto?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lección anterior vimos métricas que miden el proceso y el producto.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agregamos las métricas de PROYECTO: miden si el proyecto está avanzando según lo planeado.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20040" y="169164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8105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equipo trabaja bien?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Productividad, DRE…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8105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8346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software es bueno?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Defectos, fiabilidad…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2697480" cy="25603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8105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¿Vamos según el plan?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costo, alcance…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ya las vimos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0644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nueva en esta lección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•  Duodécimos  •  Lección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métricas de proyecto que vamos a 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rápido antes de ver cada una en detalle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383280"/>
        </p:xfrm>
        <a:graphic>
          <a:graphicData uri="http://schemas.openxmlformats.org/drawingml/2006/table">
            <a:tbl>
              <a:tblPr/>
              <a:tblGrid>
                <a:gridCol w="502920"/>
                <a:gridCol w="2194560"/>
                <a:gridCol w="3931920"/>
                <a:gridCol w="1874520"/>
              </a:tblGrid>
              <a:tr h="8458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mide / Fórmula resumida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del equipo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 completadas ÷ Número de sprints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funciones por sprint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de cronograma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real − Tiempo planificado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días (retraso)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de costo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real − Costo planificado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+₡50 000 (sobrecosto)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•  Duodécimos  •  Lección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1 — Velocidad del Equipo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funciones completa el equipo en promedio por sprint?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mide cuántas funcionalidades completa el equipo en promedio por cada sprint. Una funcionalidad puede ser, por ejemplo: el módulo de inicio de sesión, el formulario de matrícula, la pantalla de reportes, etc. Si la velocidad baja de un sprint al siguiente, algo está frenando al equipo.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24328"/>
            <a:ext cx="539496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24328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 =  Total de funciones completadas  ÷  Número de sprints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5394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3375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paso a paso: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8 funciones  •  Sprint 2: 7 funciones  •  Sprint 3: 9 funciones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 + 7 + 9 = 24 funciones  →  Velocidad = 24 ÷ 3 = 8 funciones por sprint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834640" cy="269748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Analogía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1389888"/>
            <a:ext cx="26517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medir cuántos platos prepara un cocinero por turno.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turno produce muchos menos platos que el anterior, algo pasó: faltaron ingredientes, llegó tarde el pedido, o había un plato nuevo muy difícil.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equipo: la velocidad baja cuando hay bloqueos, cambios de último momento o tareas inesperadas.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•  Duodécimos  •  Lección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2 — Varianza de Cronograma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proyecto va adelantado, a tiempo o atrasado respecto al plan original?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varianza de cronograma compara el tiempo que realmente tomó una tarea o sprint contra el tiempo que se había planificado. Un resultado positivo significa retraso; negativo, que se adelantó.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841248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de Cronograma  =  Tiempo real  −  Tiempo planificado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2743200" cy="192024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" y="289864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SE ADELANTÓ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" y="3273552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negativo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real=8 días, plan=10 días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8 − 10 = −2 días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" y="3959352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Tardó menos de lo planeado.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¡El equipo fue más rápido!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834640"/>
            <a:ext cx="2743200" cy="1920240"/>
          </a:xfrm>
          <a:prstGeom prst="rect">
            <a:avLst/>
          </a:prstGeom>
          <a:solidFill>
            <a:srgbClr val="FEF9C3"/>
          </a:solidFill>
          <a:ln w="25400">
            <a:solidFill>
              <a:srgbClr val="CA8A0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73552" y="289864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A TIEMPO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73552" y="3273552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cero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real=10 días, plan=10 días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10 − 10 = 0 días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73552" y="3959352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cumplió exactamente el plan.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señal de control.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834640"/>
            <a:ext cx="2743200" cy="19202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53912" y="289864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SE RETRASÓ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53912" y="3273552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positivo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real=13 días, plan=10 días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13 − 10 = +3 días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53912" y="3959352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Tardó más de lo planeado.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investigar la causa.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•  Duodécimos  •  Lección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3 — Varianza de Costo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proyecto está costando más o menos de lo que se presupuestó?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varianza de costo compara lo que realmente se gastó contra lo que se había presupuestado. Igual que con el cronograma: positivo es sobrecosto, negativo es que se gastó menos de lo planeado.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40864"/>
            <a:ext cx="539496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40864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de Costo  =  Costo real  −  Costo planificado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44368"/>
            <a:ext cx="53949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0358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paso a paso: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del sprint: ₡180 000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real del sprint: ₡230 000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= 230 000 − 180 000 = +₡50 000  →  ROJO (sobrecosto)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834640" cy="265176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Nota importante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1389888"/>
            <a:ext cx="26517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proyectos reales existen técnicas más avanzadas como el EVM (Earned Value Management) que cruzan costo y cronograma al mismo tiempo.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este nivel, usamos la fórmula simple de varianza, que ya captura la esencia del control de costos.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•  Duodécimos  •  Lección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interpretamos las métricas de proyecto?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sistema de semáforo que ya conocés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2167128"/>
                <a:gridCol w="2167128"/>
                <a:gridCol w="2157984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BIEN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ATENCIÓN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del 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Estable o creciente entre sprints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de hasta 20% respecto al sprint anterior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constante o mayor al 20% de un sprint a otro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de cronograma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 negativa (adelantado o a tiempo)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0 y +20% del tiempo planificado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del 20% de retraso acumulado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de costo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 negativa (dentro o bajo presupuesto)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0 y +15% del presupuesto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del 15% sobre el presupuesto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•  Duodécimos  •  Lección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métricas en el proceso de software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métricas no basta — hay que usarlas en el momento correcto del proyecto.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" y="1188720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188720"/>
            <a:ext cx="20574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161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Planificación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11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del proyecto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67004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metas de velocidad, presupuesto base y cronograma de referencia.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9736" y="1188720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9736" y="1188720"/>
            <a:ext cx="20574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2161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Ejecución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05456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32888" y="2286000"/>
            <a:ext cx="1911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cada sprint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51176" y="267004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productividad, velocidad y varianzas en tiempo real para detectar desviaciones.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188720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88720"/>
            <a:ext cx="20574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2161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Pruebas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72584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00016" y="2286000"/>
            <a:ext cx="1911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8304" y="267004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DRE, cobertura y densidad de defectos para validar calidad.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93992" y="1188720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93992" y="1188720"/>
            <a:ext cx="20574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2161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Revisión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39712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867144" y="2286000"/>
            <a:ext cx="1911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 sprint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85432" y="267004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todos los indicadores, actualizar el semáforo y decidir qué mejorar.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•  Duodécimos  •  Lección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reportan las métricas al equipo?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de métricas: la herramienta clave para tomar decisiones en la retrospectiva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cada sprint, el equipo llena un tablero con todas las métricas calculadas. Cada métrica recibe su color de semáforo y el equipo responde tres preguntas: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9339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93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métrica está en rojo?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prioridad #1 de mejora.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9806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98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798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la causó?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analiza el sprint para encontrar la raíz.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02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cambiamos?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877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una acción concreta para el próximo sprint.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051560"/>
            <a:ext cx="3794760" cy="3749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111556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— Sprint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1508760"/>
            <a:ext cx="3703320" cy="320040"/>
          </a:xfrm>
          <a:prstGeom prst="rect">
            <a:avLst/>
          </a:prstGeom>
          <a:solidFill>
            <a:srgbClr val="2E4A8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54533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23760" y="154533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1545336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74920" y="1847088"/>
            <a:ext cx="3703320" cy="320040"/>
          </a:xfrm>
          <a:prstGeom prst="rect">
            <a:avLst/>
          </a:prstGeom>
          <a:solidFill>
            <a:srgbClr val="F4F6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188366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23760" y="1883664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SP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1883664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2185416"/>
            <a:ext cx="3703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22199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Cronograma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23760" y="222199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días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0" y="222199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🟡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2523744"/>
            <a:ext cx="3703320" cy="320040"/>
          </a:xfrm>
          <a:prstGeom prst="rect">
            <a:avLst/>
          </a:prstGeom>
          <a:solidFill>
            <a:srgbClr val="F4F6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256032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Costo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3760" y="2560320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−₡8 000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256032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🟢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74920" y="2862072"/>
            <a:ext cx="3703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289864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23760" y="2898648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líns/h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0" y="289864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🟢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74920" y="3200400"/>
            <a:ext cx="3703320" cy="320040"/>
          </a:xfrm>
          <a:prstGeom prst="rect">
            <a:avLst/>
          </a:prstGeom>
          <a:solidFill>
            <a:srgbClr val="F4F6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38928" y="323697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23760" y="32369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0" y="3236976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🟢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74920" y="3538728"/>
            <a:ext cx="3703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357530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defectos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223760" y="3575304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0.45/KLOC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229600" y="3575304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🟡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74920" y="3877056"/>
            <a:ext cx="3703320" cy="320040"/>
          </a:xfrm>
          <a:prstGeom prst="rect">
            <a:avLst/>
          </a:prstGeom>
          <a:solidFill>
            <a:srgbClr val="F4F6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38928" y="391363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223760" y="391363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229600" y="391363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🟢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74920" y="4215384"/>
            <a:ext cx="3703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8928" y="425196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223760" y="4251960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229600" y="425196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🟡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576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•  Duodécimos  •  Lección 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114800"/>
            <a:ext cx="8979408" cy="102870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hoy: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274320" cy="274320"/>
          </a:xfrm>
          <a:prstGeom prst="ellipse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80467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de PROYECTO miden si el plan original se está cumpliendo en tiempo y costo.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74320" cy="274320"/>
          </a:xfrm>
          <a:prstGeom prst="ellipse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630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varianza de cronograma y varianza de costo son las tres herramientas clave.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139696"/>
            <a:ext cx="274320" cy="274320"/>
          </a:xfrm>
          <a:prstGeom prst="ellipse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2140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se integran en cada fase: planificación, ejecución, pruebas y revisión.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2798064"/>
            <a:ext cx="274320" cy="274320"/>
          </a:xfrm>
          <a:prstGeom prst="ellipse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7977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de métricas y la retrospectiva son donde los números se convierten en mejoras.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antes de la práctica?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Métricas de Proyecto e Integración en el Proceso</dc:title>
  <dc:subject>PptxGenJS Presentation</dc:subject>
  <dc:creator>PptxGenJS</dc:creator>
  <cp:lastModifiedBy>PptxGenJS</cp:lastModifiedBy>
  <cp:revision>1</cp:revision>
  <dcterms:created xsi:type="dcterms:W3CDTF">2026-04-24T13:48:54Z</dcterms:created>
  <dcterms:modified xsi:type="dcterms:W3CDTF">2026-04-24T13:48:54Z</dcterms:modified>
</cp:coreProperties>
</file>