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Exposición 25-30 min y luego las dos prácticas.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Leer el indicador tal como aparece en el programa de estudio.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Pregunta: el logo del colegio para la página web, ¿raster o vectorial? ¿Por qué?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Enlaza directamente con la Práctica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Preguntar: ¿por qué un logo en JPG se ve mal al ampliarlo?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Ejercicio oral: abrir Photopea y que los estudiantes señalen cada parte por su nombre.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Base de la Práctica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Señalar el atributo alt: accesibilidad y SEO.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Repartir el documento de prácticas y formar los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914400"/>
            <a:ext cx="3291840" cy="3291840"/>
          </a:xfrm>
          <a:prstGeom prst="ellipse">
            <a:avLst/>
          </a:prstGeom>
          <a:solidFill>
            <a:srgbClr val="5B2C87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554480"/>
            <a:ext cx="2286000" cy="2286000"/>
          </a:xfrm>
          <a:prstGeom prst="ellipse">
            <a:avLst/>
          </a:prstGeom>
          <a:solidFill>
            <a:srgbClr val="FF6B4A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291840"/>
            <a:ext cx="1554480" cy="1554480"/>
          </a:xfrm>
          <a:prstGeom prst="ellipse">
            <a:avLst/>
          </a:prstGeom>
          <a:solidFill>
            <a:srgbClr val="F5C518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4206240"/>
            <a:ext cx="1188720" cy="1188720"/>
          </a:xfrm>
          <a:prstGeom prst="ellipse">
            <a:avLst/>
          </a:prstGeom>
          <a:solidFill>
            <a:srgbClr val="2A9D8F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 ·  UNIDAD DE ESTUDIO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" y="18288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 edición de imágenes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04088" y="2606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implementación de software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4088" y="3383280"/>
            <a:ext cx="256032" cy="25603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3383280"/>
            <a:ext cx="256032" cy="2560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Shape 9"/>
          <p:cNvSpPr/>
          <p:nvPr/>
        </p:nvSpPr>
        <p:spPr>
          <a:xfrm>
            <a:off x="1472184" y="3383280"/>
            <a:ext cx="256032" cy="2560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Shape 10"/>
          <p:cNvSpPr/>
          <p:nvPr/>
        </p:nvSpPr>
        <p:spPr>
          <a:xfrm>
            <a:off x="1856232" y="3383280"/>
            <a:ext cx="256032" cy="256032"/>
          </a:xfrm>
          <a:prstGeom prst="rect">
            <a:avLst/>
          </a:prstGeom>
          <a:solidFill>
            <a:srgbClr val="0466C8"/>
          </a:solidFill>
          <a:ln/>
        </p:spPr>
      </p:sp>
      <p:sp>
        <p:nvSpPr>
          <p:cNvPr id="13" name="Shape 11"/>
          <p:cNvSpPr/>
          <p:nvPr/>
        </p:nvSpPr>
        <p:spPr>
          <a:xfrm>
            <a:off x="2240280" y="3383280"/>
            <a:ext cx="256032" cy="256032"/>
          </a:xfrm>
          <a:prstGeom prst="rect">
            <a:avLst/>
          </a:prstGeom>
          <a:solidFill>
            <a:srgbClr val="5B2C87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4328" y="3383280"/>
            <a:ext cx="256032" cy="2560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206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Duodécimo año  ·  Especialidad: Desarrollo Web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4088" y="4526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 Educación Pública  ·  Duración: 1 lección (60 minutos)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2976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 aprendizaje e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51560"/>
            <a:ext cx="5417820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2529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5B2C8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152144"/>
            <a:ext cx="491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uso del software de edición de imágenes en la implementación de software, reconociendo su entorno de trabajo y sus versiones en la nube.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04204" y="1051560"/>
            <a:ext cx="5417820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8796" y="122529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F6B4A"/>
          </a:solidFill>
          <a:ln/>
        </p:spPr>
      </p:sp>
      <p:sp>
        <p:nvSpPr>
          <p:cNvPr id="10" name="Text 8"/>
          <p:cNvSpPr/>
          <p:nvPr/>
        </p:nvSpPr>
        <p:spPr>
          <a:xfrm>
            <a:off x="6569964" y="1152144"/>
            <a:ext cx="491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logro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68796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 las partes que conforman el entorno de trabajo de un software de edición de imágenes y explica el uso de cada una en un proyecto real.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377440"/>
            <a:ext cx="11055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LA LECCIÓN VOY A PODER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651760"/>
            <a:ext cx="3538728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2549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F6B4A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27523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una imagen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308152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si una imagen es de mapa de bits o vectorial y decidir cuál necesita el proyecto.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25112" y="2651760"/>
            <a:ext cx="3538728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9704" y="282549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4690872" y="27523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Ubicarme en el editor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89704" y="308152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cada parte del entorno de trabajo y saber para qué se usa.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83296" y="2651760"/>
            <a:ext cx="3538728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47888" y="282549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0466C8"/>
          </a:solidFill>
          <a:ln/>
        </p:spPr>
      </p:sp>
      <p:sp>
        <p:nvSpPr>
          <p:cNvPr id="23" name="Text 21"/>
          <p:cNvSpPr/>
          <p:nvPr/>
        </p:nvSpPr>
        <p:spPr>
          <a:xfrm>
            <a:off x="8449056" y="27523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con criterio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47888" y="308152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formato, tamaño y herramienta según el caso, y justificar la decisión.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3931920"/>
            <a:ext cx="11055096" cy="868680"/>
          </a:xfrm>
          <a:prstGeom prst="roundRect">
            <a:avLst>
              <a:gd name="adj" fmla="val 3158"/>
            </a:avLst>
          </a:prstGeom>
          <a:solidFill>
            <a:srgbClr val="1C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393192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programador estudia edición de imágenes?   Porque una imagen mal exportada arruina un sitio bien programado: pesa de más, se ve borrosa o rompe el diseño. El código responde por la lógica; las imágenes responden por lo que el usuario ve y por lo que tarda en verlo.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074920"/>
            <a:ext cx="541782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2486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5C518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5175504"/>
            <a:ext cx="491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31520" y="5504688"/>
            <a:ext cx="50886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problemas: optimizar las imágenes de un sitio que carga lento.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04204" y="5074920"/>
            <a:ext cx="541782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8796" y="52486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8B7BC7"/>
          </a:solidFill>
          <a:ln/>
        </p:spPr>
      </p:sp>
      <p:sp>
        <p:nvSpPr>
          <p:cNvPr id="33" name="Text 31"/>
          <p:cNvSpPr/>
          <p:nvPr/>
        </p:nvSpPr>
        <p:spPr>
          <a:xfrm>
            <a:off x="6569964" y="5175504"/>
            <a:ext cx="491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2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368796" y="5504688"/>
            <a:ext cx="50886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casos: decidir entre software en la nube o de escritorio.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CONCEPTO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2976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Concepto: qué es un software de edición de imágenes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941832"/>
            <a:ext cx="11055096" cy="365760"/>
          </a:xfrm>
          <a:prstGeom prst="rect">
            <a:avLst/>
          </a:prstGeom>
          <a:solidFill>
            <a:srgbClr val="EFEA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941832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herramienta con la que se producen los recursos visuales que después consume tu código.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389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que permite crear, modificar, retocar, componer, convertir y optimizar imágenes digitales. En desarrollo de software no es una herramienta de arte: es una herramienta de producción de recursos (assets) que la aplicación necesita para funcionar y verse bien.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bits (raster)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es una malla de píxeles. Al ampliarla más allá de su tamaño se pixela.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8529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capturas, texturas. JPG · PNG · WebP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5112" y="1874520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9704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5B2C87"/>
          </a:solidFill>
          <a:ln/>
        </p:spPr>
      </p:sp>
      <p:sp>
        <p:nvSpPr>
          <p:cNvPr id="14" name="Text 12"/>
          <p:cNvSpPr/>
          <p:nvPr/>
        </p:nvSpPr>
        <p:spPr>
          <a:xfrm>
            <a:off x="4690872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9704" y="23042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se define con puntos, trazos y fórmulas. Escala a cualquier tamaño sin perder calidad.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9704" y="28529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e iconos. SVG · AI · EPS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83296" y="1874520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8449056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píxel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47888" y="23042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píxel es la unidad mínima. Las dimensiones en px definen el detalle disponible y el peso del archivo.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47888" y="28529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× 630 px es el tamaño típico de una portada web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3575304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749040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0466C8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67588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31520" y="40050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vive en su propia capa y se edita sin dañar los demás: edición no destructiva.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537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se guarda el archivo editable, no solo el JPG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25112" y="3575304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9704" y="3749040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5C518"/>
          </a:solidFill>
          <a:ln/>
        </p:spPr>
      </p:sp>
      <p:sp>
        <p:nvSpPr>
          <p:cNvPr id="29" name="Text 27"/>
          <p:cNvSpPr/>
          <p:nvPr/>
        </p:nvSpPr>
        <p:spPr>
          <a:xfrm>
            <a:off x="4690872" y="367588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editable vs. exportado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489704" y="40050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editable conserva capas (PSD, XCF, FIG). El exportado es el que se sube al sitio.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9704" y="45537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borra el editable: sin él hay que rehacer todo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83296" y="3575304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3749040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8B7BC7"/>
          </a:solidFill>
          <a:ln/>
        </p:spPr>
      </p:sp>
      <p:sp>
        <p:nvSpPr>
          <p:cNvPr id="34" name="Text 32"/>
          <p:cNvSpPr/>
          <p:nvPr/>
        </p:nvSpPr>
        <p:spPr>
          <a:xfrm>
            <a:off x="8449056" y="367588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247888" y="40050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peso del archivo. Con pérdida (JPG, WebP) o sin pérdida (PNG, SVG).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47888" y="45537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 de 5 MB a 200 KB casi sin diferencia visible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" y="5349240"/>
            <a:ext cx="11055096" cy="868680"/>
          </a:xfrm>
          <a:prstGeom prst="roundRect">
            <a:avLst>
              <a:gd name="adj" fmla="val 3158"/>
            </a:avLst>
          </a:prstGeom>
          <a:solidFill>
            <a:srgbClr val="1C1B2E"/>
          </a:solidFill>
          <a:ln/>
        </p:spPr>
      </p:sp>
      <p:sp>
        <p:nvSpPr>
          <p:cNvPr id="38" name="Text 36"/>
          <p:cNvSpPr/>
          <p:nvPr/>
        </p:nvSpPr>
        <p:spPr>
          <a:xfrm>
            <a:off x="886968" y="534924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de fondo es siempre la misma: ¿esta imagen tiene que verse bien a cualquier tamaño (vectorial) o tiene que reproducir detalle fotográfico (mapa de bits)? De esa respuesta salen el formato, el peso y la herramienta.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2976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en la implementación de software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941832"/>
            <a:ext cx="11055096" cy="365760"/>
          </a:xfrm>
          <a:prstGeom prst="rect">
            <a:avLst/>
          </a:prstGeom>
          <a:solidFill>
            <a:srgbClr val="EFEA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941832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 lo que el usuario ve pasó antes por un editor de imágenes.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389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edición de imágenes aparece en varias etapas del proyecto: antes de programar (diseño), durante (producción de recursos y optimización) y después (documentación y pruebas).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5B2C87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Wireframes, mockups y prototipos de las pantallas antes de escribir código.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8529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Figma, Photopea, Adobe XD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5112" y="1874520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9704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4690872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de assets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9704" y="23042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Logos, iconos, banners, fondos, sprites y favicon en el formato que pide el sistema.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9704" y="28529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logo en SVG, PNG y 512 px para la app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83296" y="1874520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8449056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47888" y="23042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Recortar, redimensionar y comprimir para que el sitio cargue rápido en datos móviles.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47888" y="28529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causa número uno de sitios lentos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3575304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749040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0466C8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67588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adaptables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31520" y="40050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versiones del mismo archivo para móvil, tablet y escritorio.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537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hero-800.webp / hero-1600.webp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25112" y="3575304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9704" y="3749040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5C518"/>
          </a:solidFill>
          <a:ln/>
        </p:spPr>
      </p:sp>
      <p:sp>
        <p:nvSpPr>
          <p:cNvPr id="29" name="Text 27"/>
          <p:cNvSpPr/>
          <p:nvPr/>
        </p:nvSpPr>
        <p:spPr>
          <a:xfrm>
            <a:off x="4690872" y="367588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sistema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489704" y="40050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productos, catálogos, galerías y fichas que se cargan a la base de datos.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9704" y="45537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al mismo tamaño y proporción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83296" y="3575304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3749040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8B7BC7"/>
          </a:solidFill>
          <a:ln/>
        </p:spPr>
      </p:sp>
      <p:sp>
        <p:nvSpPr>
          <p:cNvPr id="34" name="Text 32"/>
          <p:cNvSpPr/>
          <p:nvPr/>
        </p:nvSpPr>
        <p:spPr>
          <a:xfrm>
            <a:off x="8449056" y="367588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QA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247888" y="40050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anotadas para manuales de usuario y para reportar errores al equipo.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47888" y="45537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captura con flechas evita párrafos de explicación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" y="5349240"/>
            <a:ext cx="11055096" cy="868680"/>
          </a:xfrm>
          <a:prstGeom prst="roundRect">
            <a:avLst>
              <a:gd name="adj" fmla="val 3158"/>
            </a:avLst>
          </a:prstGeom>
          <a:solidFill>
            <a:srgbClr val="1C1B2E"/>
          </a:solidFill>
          <a:ln/>
        </p:spPr>
      </p:sp>
      <p:sp>
        <p:nvSpPr>
          <p:cNvPr id="38" name="Text 36"/>
          <p:cNvSpPr/>
          <p:nvPr/>
        </p:nvSpPr>
        <p:spPr>
          <a:xfrm>
            <a:off x="886968" y="534924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trabajo: la imagen se prepara antes de subirla al proyecto. Si el archivo llega tal como salió de la cámara, el problema no se resuelve con código: se arrastra hasta el usuario final.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FORMATOS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2976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formato usar y por qué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941832"/>
            <a:ext cx="11055096" cy="365760"/>
          </a:xfrm>
          <a:prstGeom prst="rect">
            <a:avLst/>
          </a:prstGeom>
          <a:solidFill>
            <a:srgbClr val="EFEA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941832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mal el formato es la diferencia entre una página de 1 MB y una de 20 MB.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389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formato resuelve un problema distinto. No existe uno mejor que los demás: existe el adecuado para cada imagen del proyecto.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Fotografías y galerías. Compresión con pérdida, muy compatible.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8529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admite transparencia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5112" y="1874520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9704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0466C8"/>
          </a:solidFill>
          <a:ln/>
        </p:spPr>
      </p:sp>
      <p:sp>
        <p:nvSpPr>
          <p:cNvPr id="14" name="Text 12"/>
          <p:cNvSpPr/>
          <p:nvPr/>
        </p:nvSpPr>
        <p:spPr>
          <a:xfrm>
            <a:off x="4690872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9704" y="23042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Transparencia, capturas y gráficos con texto nítido.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9704" y="28529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archivos pesados si se usa para fotos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83296" y="1874520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5B2C87"/>
          </a:solidFill>
          <a:ln/>
        </p:spPr>
      </p:sp>
      <p:sp>
        <p:nvSpPr>
          <p:cNvPr id="19" name="Text 17"/>
          <p:cNvSpPr/>
          <p:nvPr/>
        </p:nvSpPr>
        <p:spPr>
          <a:xfrm>
            <a:off x="8449056" y="197510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47888" y="23042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e iconos. Escala sin perder calidad y se edita con CSS.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47888" y="28529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sirve para fotografías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3575304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749040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67588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31520" y="40050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moderno de JPG y PNG: mismo resultado con bastante menos peso.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537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Admite transparencia y animación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25112" y="3575304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9704" y="3749040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5C518"/>
          </a:solidFill>
          <a:ln/>
        </p:spPr>
      </p:sp>
      <p:sp>
        <p:nvSpPr>
          <p:cNvPr id="29" name="Text 27"/>
          <p:cNvSpPr/>
          <p:nvPr/>
        </p:nvSpPr>
        <p:spPr>
          <a:xfrm>
            <a:off x="4690872" y="367588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AVIF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489704" y="40050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 compresión disponible para fotografías.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9704" y="45537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algo más limitado; conviene dejar respaldo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83296" y="3575304"/>
            <a:ext cx="3538728" cy="148132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3749040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8B7BC7"/>
          </a:solidFill>
          <a:ln/>
        </p:spPr>
      </p:sp>
      <p:sp>
        <p:nvSpPr>
          <p:cNvPr id="34" name="Text 32"/>
          <p:cNvSpPr/>
          <p:nvPr/>
        </p:nvSpPr>
        <p:spPr>
          <a:xfrm>
            <a:off x="8449056" y="367588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247888" y="40050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 muy simples y de pocos colores.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47888" y="45537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256 colores; para video se usa MP4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" y="5349240"/>
            <a:ext cx="11055096" cy="868680"/>
          </a:xfrm>
          <a:prstGeom prst="roundRect">
            <a:avLst>
              <a:gd name="adj" fmla="val 3158"/>
            </a:avLst>
          </a:prstGeom>
          <a:solidFill>
            <a:srgbClr val="1C1B2E"/>
          </a:solidFill>
          <a:ln/>
        </p:spPr>
      </p:sp>
      <p:sp>
        <p:nvSpPr>
          <p:cNvPr id="38" name="Text 36"/>
          <p:cNvSpPr/>
          <p:nvPr/>
        </p:nvSpPr>
        <p:spPr>
          <a:xfrm>
            <a:off x="886968" y="534924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  fotografía → WebP (con respaldo JPG)   ·   logo o icono → SVG   ·   transparencia → PNG o WebP   ·   animación → MP4 antes que GIF.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ENTORNO DE TRABAJO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2976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Partes que conforman el entorno de trabajo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941832"/>
            <a:ext cx="11055096" cy="365760"/>
          </a:xfrm>
          <a:prstGeom prst="rect">
            <a:avLst/>
          </a:prstGeom>
          <a:solidFill>
            <a:srgbClr val="EFEA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941832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cómo se llama cada parte permite seguir cualquier tutorial y trabajar más rápido.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389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cambien el programa y el idioma, el entorno de trabajo de un editor de imágenes siempre organiza los mismos ocho elementos.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599182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5B2C87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975104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menús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22699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todos los comandos: abrir, guardar, exportar, ajustes y filtros.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99923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· Edición · Imagen · Capa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5566" y="1874520"/>
            <a:ext cx="2599182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0158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3751326" y="1975104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opciones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50158" y="2304288"/>
            <a:ext cx="22699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los parámetros de la herramienta activa y cambia según cuál se elija.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50158" y="299923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Tamaño, opacidad, dureza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04204" y="1874520"/>
            <a:ext cx="2599182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8796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6569964" y="1975104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 de documentos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68796" y="2304288"/>
            <a:ext cx="22699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tener varios archivos abiertos y pasar de uno a otro.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68796" y="299923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banner.psd · logo.svg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22842" y="1874520"/>
            <a:ext cx="2599182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7434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0466C8"/>
          </a:solidFill>
          <a:ln/>
        </p:spPr>
      </p:sp>
      <p:sp>
        <p:nvSpPr>
          <p:cNvPr id="24" name="Text 22"/>
          <p:cNvSpPr/>
          <p:nvPr/>
        </p:nvSpPr>
        <p:spPr>
          <a:xfrm>
            <a:off x="9388602" y="1975104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herramientas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87434" y="2304288"/>
            <a:ext cx="22699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Selección, recorte, pincel, texto, formas, borrador y cuentagotas.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87434" y="2999232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parte que más se usa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721608"/>
            <a:ext cx="2599182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895344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5C518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382219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y guías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4151376"/>
            <a:ext cx="22699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Ubican y alinean los elementos con precisión en píxeles.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" y="484632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Imprescindibles para alinear una interfaz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5566" y="3721608"/>
            <a:ext cx="2599182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50158" y="3895344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8B7BC7"/>
          </a:solidFill>
          <a:ln/>
        </p:spPr>
      </p:sp>
      <p:sp>
        <p:nvSpPr>
          <p:cNvPr id="34" name="Text 32"/>
          <p:cNvSpPr/>
          <p:nvPr/>
        </p:nvSpPr>
        <p:spPr>
          <a:xfrm>
            <a:off x="3751326" y="382219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Lienzo o área de trabajo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50158" y="4151376"/>
            <a:ext cx="22699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donde se ve y se edita la imagen; define el tamaño final del archivo.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50158" y="484632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está fuera del lienzo no se exporta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04204" y="3721608"/>
            <a:ext cx="2599182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68796" y="3895344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E63946"/>
          </a:solidFill>
          <a:ln/>
        </p:spPr>
      </p:sp>
      <p:sp>
        <p:nvSpPr>
          <p:cNvPr id="39" name="Text 37"/>
          <p:cNvSpPr/>
          <p:nvPr/>
        </p:nvSpPr>
        <p:spPr>
          <a:xfrm>
            <a:off x="6569964" y="382219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68796" y="4151376"/>
            <a:ext cx="22699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Capas, color, historial y propiedades: el control fino del trabajo.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68796" y="484632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de capas es el más importante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022842" y="3721608"/>
            <a:ext cx="2599182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87434" y="3895344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6B6880"/>
          </a:solidFill>
          <a:ln/>
        </p:spPr>
      </p:sp>
      <p:sp>
        <p:nvSpPr>
          <p:cNvPr id="44" name="Text 42"/>
          <p:cNvSpPr/>
          <p:nvPr/>
        </p:nvSpPr>
        <p:spPr>
          <a:xfrm>
            <a:off x="9388602" y="3822192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estado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87434" y="4151376"/>
            <a:ext cx="22699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zoom, dimensiones, modo de color y peso del archivo.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187434" y="484632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se confirma si la imagen pesa de más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486400"/>
            <a:ext cx="11055096" cy="822960"/>
          </a:xfrm>
          <a:prstGeom prst="roundRect">
            <a:avLst>
              <a:gd name="adj" fmla="val 3333"/>
            </a:avLst>
          </a:prstGeom>
          <a:solidFill>
            <a:srgbClr val="1C1B2E"/>
          </a:solidFill>
          <a:ln/>
        </p:spPr>
      </p:sp>
      <p:sp>
        <p:nvSpPr>
          <p:cNvPr id="48" name="Text 46"/>
          <p:cNvSpPr/>
          <p:nvPr/>
        </p:nvSpPr>
        <p:spPr>
          <a:xfrm>
            <a:off x="886968" y="5486400"/>
            <a:ext cx="10415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de capas es lo que separa un editor de un simple visor: permite trabajar por partes, corregir un elemento sin dañar los demás y volver atrás. Editar por capas es editar sin destruir.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EDICIÓN EN LA NUBE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2976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 edición de imágenes en la nube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941832"/>
            <a:ext cx="11055096" cy="365760"/>
          </a:xfrm>
          <a:prstGeom prst="rect">
            <a:avLst/>
          </a:prstGeom>
          <a:solidFill>
            <a:srgbClr val="EFEA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941832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trabajar desde cualquier equipo del laboratorio sin instalar nada ni pagar licencias.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389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se ejecuta en el navegador: los archivos y el procesamiento viven en el servidor. Se accede con una cuenta, guarda automáticamente y permite que varias personas trabajen a la vez.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599182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5B2C87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975104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Photopea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22699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mapa de bits muy parecido a Photoshop. Abre y guarda archivos PSD.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5566" y="1874520"/>
            <a:ext cx="2599182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0158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3751326" y="1975104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0158" y="2304288"/>
            <a:ext cx="22699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interfaces, prototipos y exportación de assets en varios tamaños.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4204" y="1874520"/>
            <a:ext cx="2599182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8796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6569964" y="1975104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8796" y="2304288"/>
            <a:ext cx="22699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gráficas rápidas con plantillas; útil para banners y redes.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22842" y="1874520"/>
            <a:ext cx="2599182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7434" y="204825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0466C8"/>
          </a:solidFill>
          <a:ln/>
        </p:spPr>
      </p:sp>
      <p:sp>
        <p:nvSpPr>
          <p:cNvPr id="21" name="Text 19"/>
          <p:cNvSpPr/>
          <p:nvPr/>
        </p:nvSpPr>
        <p:spPr>
          <a:xfrm>
            <a:off x="9388602" y="1975104"/>
            <a:ext cx="209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Squoosh · TinyPNG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87434" y="2304288"/>
            <a:ext cx="22699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 y conversión a WebP o AVIF antes de subir al proyecto.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108960"/>
            <a:ext cx="541782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28269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3209544"/>
            <a:ext cx="491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95528" y="3520440"/>
            <a:ext cx="49606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instalación ni licencia por equipo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computadoras de pocos recursos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y revisión en tiempo real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Autoguardado y acceso desde cualquier lugar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4204" y="3108960"/>
            <a:ext cx="541782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68796" y="328269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6569964" y="3209544"/>
            <a:ext cx="491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32804" y="3520440"/>
            <a:ext cx="49606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una conexión estable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menor con archivos muy grandes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salen de la organización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avanzadas suelen ser de pago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349240"/>
            <a:ext cx="11055096" cy="868680"/>
          </a:xfrm>
          <a:prstGeom prst="roundRect">
            <a:avLst>
              <a:gd name="adj" fmla="val 3158"/>
            </a:avLst>
          </a:prstGeom>
          <a:solidFill>
            <a:srgbClr val="1C1B2E"/>
          </a:solidFill>
          <a:ln/>
        </p:spPr>
      </p:sp>
      <p:sp>
        <p:nvSpPr>
          <p:cNvPr id="32" name="Text 30"/>
          <p:cNvSpPr/>
          <p:nvPr/>
        </p:nvSpPr>
        <p:spPr>
          <a:xfrm>
            <a:off x="886968" y="534924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opción mejor siempre. Se decide con cuatro criterios: equipo disponible, calidad de la conexión, confidencialidad de los datos y presupuesto. En un laboratorio sin permisos de instalación, la nube gana; con datos sensibles, el escritorio.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DEL DISEÑO AL CÓDIGO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2976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llega una imagen al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941832"/>
            <a:ext cx="11055096" cy="365760"/>
          </a:xfrm>
          <a:prstGeom prst="rect">
            <a:avLst/>
          </a:prstGeom>
          <a:solidFill>
            <a:srgbClr val="EFEA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941832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ME SIRVE AL PROGRAMAR?   </a:t>
            </a:r>
            <a:pPr indent="0" marL="0">
              <a:buNone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flujo que se repite con cada imagen del sitio, de principio a fin.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389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imagen del proyecto recorre los mismos cinco pasos. El editor de imágenes participa en los tres primeros; el código solo aprovecha el resultado.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064715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29968"/>
            <a:ext cx="274320" cy="2743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2011680"/>
            <a:ext cx="14246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395728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o pieza en el editor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14523" y="1874520"/>
            <a:ext cx="2064715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9115" y="2029968"/>
            <a:ext cx="274320" cy="2743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2979115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6587" y="2011680"/>
            <a:ext cx="14246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79115" y="2395728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dimensiones reales de uso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62118" y="1874520"/>
            <a:ext cx="2064715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26710" y="2029968"/>
            <a:ext cx="274320" cy="2743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9" name="Text 17"/>
          <p:cNvSpPr/>
          <p:nvPr/>
        </p:nvSpPr>
        <p:spPr>
          <a:xfrm>
            <a:off x="522671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4182" y="2011680"/>
            <a:ext cx="14246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26710" y="2395728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 y convertir a WebP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09714" y="1874520"/>
            <a:ext cx="2064715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4306" y="2029968"/>
            <a:ext cx="274320" cy="2743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747430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21778" y="2011680"/>
            <a:ext cx="14246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74306" y="2395728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hero-inicio.webp, sin tildes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557309" y="1874520"/>
            <a:ext cx="2064715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21901" y="2029968"/>
            <a:ext cx="274320" cy="2743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9" name="Text 27"/>
          <p:cNvSpPr/>
          <p:nvPr/>
        </p:nvSpPr>
        <p:spPr>
          <a:xfrm>
            <a:off x="9721901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69373" y="2011680"/>
            <a:ext cx="14246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21901" y="2395728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en el HTML con alt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3154680"/>
            <a:ext cx="11055096" cy="210312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332841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5B2C87"/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" y="3255264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 el código: la misma imagen en dos tamaños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49808" y="3584448"/>
            <a:ext cx="10689336" cy="1536192"/>
          </a:xfrm>
          <a:prstGeom prst="roundRect">
            <a:avLst>
              <a:gd name="adj" fmla="val 1786"/>
            </a:avLst>
          </a:prstGeom>
          <a:solidFill>
            <a:srgbClr val="1C1B2E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3675888"/>
            <a:ext cx="10323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&lt;picture&gt;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srcset="hero-800.webp"  media="(max-width: 800px)" type="image/webp"&gt;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srcset="hero-1600.webp" type="image/webp"&gt;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src="hero-1600.jpg" alt="Fachada del local" width="1600" height="900"&gt;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&lt;/picture&gt;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486400"/>
            <a:ext cx="11055096" cy="822960"/>
          </a:xfrm>
          <a:prstGeom prst="roundRect">
            <a:avLst>
              <a:gd name="adj" fmla="val 3333"/>
            </a:avLst>
          </a:prstGeom>
          <a:solidFill>
            <a:srgbClr val="1C1B2E"/>
          </a:solidFill>
          <a:ln/>
        </p:spPr>
      </p:sp>
      <p:sp>
        <p:nvSpPr>
          <p:cNvPr id="38" name="Text 36"/>
          <p:cNvSpPr/>
          <p:nvPr/>
        </p:nvSpPr>
        <p:spPr>
          <a:xfrm>
            <a:off x="886968" y="5486400"/>
            <a:ext cx="10415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descarga solo la versión que necesita: en un celular baja la de 800 px y no la de 1600 px. La decisión se toma en el editor al exportar; el HTML solo la aprovecha.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Y CIERRE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42976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hay que llevarse de esta lección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ideas que resumen el papel de la edición de imágenes dentro del desarrollo de software.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3538728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4533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F6B4A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47218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parte del proceso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1801368"/>
            <a:ext cx="3209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adorno: produce los recursos que la aplicación consume.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371600"/>
            <a:ext cx="3538728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9704" y="154533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5B2C87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147218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 o vectorial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9704" y="1801368"/>
            <a:ext cx="3209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 o gráfico escalable: de eso depende todo lo demás.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83296" y="1371600"/>
            <a:ext cx="3538728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154533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8449056" y="147218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importa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47888" y="1801368"/>
            <a:ext cx="3209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MB extra es tiempo de espera y datos del usuario.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642616"/>
            <a:ext cx="3538728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816352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0466C8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 criterio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3072384"/>
            <a:ext cx="3209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 o JPG para fotos, SVG para logos, PNG para transparencia.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2642616"/>
            <a:ext cx="3538728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9704" y="2816352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5C518"/>
          </a:solidFill>
          <a:ln/>
        </p:spPr>
      </p:sp>
      <p:sp>
        <p:nvSpPr>
          <p:cNvPr id="23" name="Text 21"/>
          <p:cNvSpPr/>
          <p:nvPr/>
        </p:nvSpPr>
        <p:spPr>
          <a:xfrm>
            <a:off x="4690872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trabajo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89704" y="3072384"/>
            <a:ext cx="3209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partes: menús, opciones, pestañas, herramientas, reglas, lienzo, paneles y estado.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83296" y="2642616"/>
            <a:ext cx="3538728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7888" y="2816352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8B7BC7"/>
          </a:solidFill>
          <a:ln/>
        </p:spPr>
      </p:sp>
      <p:sp>
        <p:nvSpPr>
          <p:cNvPr id="27" name="Text 25"/>
          <p:cNvSpPr/>
          <p:nvPr/>
        </p:nvSpPr>
        <p:spPr>
          <a:xfrm>
            <a:off x="8449056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o escritorio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47888" y="3072384"/>
            <a:ext cx="3209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por equipo, conexión, confidencialidad y presupuesto.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3931920"/>
            <a:ext cx="11055096" cy="777240"/>
          </a:xfrm>
          <a:prstGeom prst="roundRect">
            <a:avLst>
              <a:gd name="adj" fmla="val 3529"/>
            </a:avLst>
          </a:prstGeom>
          <a:solidFill>
            <a:srgbClr val="1C1B2E"/>
          </a:solidFill>
          <a:ln/>
        </p:spPr>
      </p:sp>
      <p:sp>
        <p:nvSpPr>
          <p:cNvPr id="30" name="Text 28"/>
          <p:cNvSpPr/>
          <p:nvPr/>
        </p:nvSpPr>
        <p:spPr>
          <a:xfrm>
            <a:off x="886968" y="3931920"/>
            <a:ext cx="10415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bien diseñado se aprende más rápido, produce menos errores y genera más confianza. La edición de imágenes no es la última capa del desarrollo: es parte del análisis desde el primer día.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983480"/>
            <a:ext cx="5417820" cy="10058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515721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F5C518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" y="5084064"/>
            <a:ext cx="491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 · Resolución de problemas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31520" y="5413248"/>
            <a:ext cx="5088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las imágenes de un sitio que carga lento: peso, formatos, herramientas y corrección del HTML.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04204" y="4983480"/>
            <a:ext cx="5417820" cy="10058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DD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8796" y="515721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8B7BC7"/>
          </a:solidFill>
          <a:ln/>
        </p:spPr>
      </p:sp>
      <p:sp>
        <p:nvSpPr>
          <p:cNvPr id="37" name="Text 35"/>
          <p:cNvSpPr/>
          <p:nvPr/>
        </p:nvSpPr>
        <p:spPr>
          <a:xfrm>
            <a:off x="6569964" y="5084064"/>
            <a:ext cx="4914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2 · Análisis de casos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68796" y="5413248"/>
            <a:ext cx="5088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situaciones reales para decidir entre software en la nube o de escritorio y justificar la elección.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 edicion de imagenes</dc:title>
  <dc:subject>PptxGenJS Presentation</dc:subject>
  <dc:creator>PptxGenJS</dc:creator>
  <cp:lastModifiedBy>PptxGenJS</cp:lastModifiedBy>
  <cp:revision>1</cp:revision>
  <dcterms:created xsi:type="dcterms:W3CDTF">2026-08-04T22:51:47Z</dcterms:created>
  <dcterms:modified xsi:type="dcterms:W3CDTF">2026-08-04T22:51:47Z</dcterms:modified>
</cp:coreProperties>
</file>